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4"/>
    <p:sldMasterId id="2147483648" r:id="rId5"/>
  </p:sldMasterIdLst>
  <p:notesMasterIdLst>
    <p:notesMasterId r:id="rId24"/>
  </p:notesMasterIdLst>
  <p:handoutMasterIdLst>
    <p:handoutMasterId r:id="rId25"/>
  </p:handoutMasterIdLst>
  <p:sldIdLst>
    <p:sldId id="286" r:id="rId6"/>
    <p:sldId id="257" r:id="rId7"/>
    <p:sldId id="258" r:id="rId8"/>
    <p:sldId id="290" r:id="rId9"/>
    <p:sldId id="291" r:id="rId10"/>
    <p:sldId id="287" r:id="rId11"/>
    <p:sldId id="288" r:id="rId12"/>
    <p:sldId id="289" r:id="rId13"/>
    <p:sldId id="292" r:id="rId14"/>
    <p:sldId id="293" r:id="rId15"/>
    <p:sldId id="294" r:id="rId16"/>
    <p:sldId id="295" r:id="rId17"/>
    <p:sldId id="296" r:id="rId18"/>
    <p:sldId id="297" r:id="rId19"/>
    <p:sldId id="298" r:id="rId20"/>
    <p:sldId id="299" r:id="rId21"/>
    <p:sldId id="300" r:id="rId22"/>
    <p:sldId id="302" r:id="rId23"/>
  </p:sldIdLst>
  <p:sldSz cx="12192000" cy="6858000"/>
  <p:notesSz cx="6858000" cy="9144000"/>
  <p:defaultTex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545" userDrawn="1">
          <p15:clr>
            <a:srgbClr val="A4A3A4"/>
          </p15:clr>
        </p15:guide>
        <p15:guide id="3"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588E457-F3D1-11F5-0D59-C4CAFD62A8D0}" name="Wijker, Steven" initials="SW" userId="S::s.wijker@VRLN.NL::597581ce-f2a8-40d7-ae85-598b4bd645eb" providerId="AD"/>
  <p188:author id="{A651888C-3F54-6CC8-3A18-DAF3B988797A}" name="Nicole de Jong" initials="NJ" userId="S::nicole.de.jong_vggm.nl#ext#@ggdghornederland.onmicrosoft.com::5d6b3799-3dc4-4a43-8bca-c8e42c7d955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763"/>
    <a:srgbClr val="22243A"/>
    <a:srgbClr val="757AC5"/>
    <a:srgbClr val="4450C6"/>
    <a:srgbClr val="FF6200"/>
    <a:srgbClr val="6EA6FF"/>
    <a:srgbClr val="009898"/>
    <a:srgbClr val="DAD3D1"/>
    <a:srgbClr val="E8525F"/>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ijl, gemiddeld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20" autoAdjust="0"/>
    <p:restoredTop sz="69291" autoAdjust="0"/>
  </p:normalViewPr>
  <p:slideViewPr>
    <p:cSldViewPr snapToGrid="0">
      <p:cViewPr varScale="1">
        <p:scale>
          <a:sx n="158" d="100"/>
          <a:sy n="158" d="100"/>
        </p:scale>
        <p:origin x="156" y="180"/>
      </p:cViewPr>
      <p:guideLst>
        <p:guide orient="horz" pos="2160"/>
        <p:guide pos="3545"/>
        <p:guide pos="3840"/>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meulen - van Gent, Sander" userId="e08259fd-81d2-4a86-9b20-28ba02d67a18" providerId="ADAL" clId="{CD1B3BBE-56CC-4974-BC5E-9FCD75B07556}"/>
    <pc:docChg chg="undo custSel addSld delSld modSld modMainMaster">
      <pc:chgData name="Vermeulen - van Gent, Sander" userId="e08259fd-81d2-4a86-9b20-28ba02d67a18" providerId="ADAL" clId="{CD1B3BBE-56CC-4974-BC5E-9FCD75B07556}" dt="2026-02-23T11:29:09.034" v="2895" actId="47"/>
      <pc:docMkLst>
        <pc:docMk/>
      </pc:docMkLst>
      <pc:sldChg chg="addSp delSp modSp new del mod modClrScheme chgLayout">
        <pc:chgData name="Vermeulen - van Gent, Sander" userId="e08259fd-81d2-4a86-9b20-28ba02d67a18" providerId="ADAL" clId="{CD1B3BBE-56CC-4974-BC5E-9FCD75B07556}" dt="2026-02-23T11:29:09.034" v="2895" actId="47"/>
        <pc:sldMkLst>
          <pc:docMk/>
          <pc:sldMk cId="1709752066" sldId="301"/>
        </pc:sldMkLst>
      </pc:sldChg>
      <pc:sldMasterChg chg="addSldLayout modSldLayout">
        <pc:chgData name="Vermeulen - van Gent, Sander" userId="e08259fd-81d2-4a86-9b20-28ba02d67a18" providerId="ADAL" clId="{CD1B3BBE-56CC-4974-BC5E-9FCD75B07556}" dt="2026-01-28T21:42:54.224" v="2894" actId="14100"/>
        <pc:sldMasterMkLst>
          <pc:docMk/>
          <pc:sldMasterMk cId="582609979" sldId="2147483648"/>
        </pc:sldMasterMkLst>
        <pc:sldLayoutChg chg="addSp modSp mod">
          <pc:chgData name="Vermeulen - van Gent, Sander" userId="e08259fd-81d2-4a86-9b20-28ba02d67a18" providerId="ADAL" clId="{CD1B3BBE-56CC-4974-BC5E-9FCD75B07556}" dt="2026-01-28T21:42:28.397" v="2892" actId="20577"/>
          <pc:sldLayoutMkLst>
            <pc:docMk/>
            <pc:sldMasterMk cId="582609979" sldId="2147483648"/>
            <pc:sldLayoutMk cId="1058498703" sldId="2147483665"/>
          </pc:sldLayoutMkLst>
          <pc:spChg chg="mod">
            <ac:chgData name="Vermeulen - van Gent, Sander" userId="e08259fd-81d2-4a86-9b20-28ba02d67a18" providerId="ADAL" clId="{CD1B3BBE-56CC-4974-BC5E-9FCD75B07556}" dt="2026-01-28T21:42:28.397" v="2892" actId="20577"/>
            <ac:spMkLst>
              <pc:docMk/>
              <pc:sldMasterMk cId="582609979" sldId="2147483648"/>
              <pc:sldLayoutMk cId="1058498703" sldId="2147483665"/>
              <ac:spMk id="16" creationId="{39DA7E63-F8DB-69F2-E53A-B92720D0DB73}"/>
            </ac:spMkLst>
          </pc:spChg>
        </pc:sldLayoutChg>
        <pc:sldLayoutChg chg="modSp mod">
          <pc:chgData name="Vermeulen - van Gent, Sander" userId="e08259fd-81d2-4a86-9b20-28ba02d67a18" providerId="ADAL" clId="{CD1B3BBE-56CC-4974-BC5E-9FCD75B07556}" dt="2026-01-28T21:42:54.224" v="2894" actId="14100"/>
          <pc:sldLayoutMkLst>
            <pc:docMk/>
            <pc:sldMasterMk cId="582609979" sldId="2147483648"/>
            <pc:sldLayoutMk cId="4151803614" sldId="2147483705"/>
          </pc:sldLayoutMkLst>
          <pc:spChg chg="mod">
            <ac:chgData name="Vermeulen - van Gent, Sander" userId="e08259fd-81d2-4a86-9b20-28ba02d67a18" providerId="ADAL" clId="{CD1B3BBE-56CC-4974-BC5E-9FCD75B07556}" dt="2026-01-28T21:42:54.224" v="2894" actId="14100"/>
            <ac:spMkLst>
              <pc:docMk/>
              <pc:sldMasterMk cId="582609979" sldId="2147483648"/>
              <pc:sldLayoutMk cId="4151803614" sldId="2147483705"/>
              <ac:spMk id="17" creationId="{83BD08AD-0583-B8D4-FD8D-EC44809BEB3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EBBECAC4-2E7B-4F8F-9A4B-AD585A9C1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A903FDF7-94AC-44A9-8B57-EA4E7EFFAA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BEDBBAB-6028-4680-9556-A8238B314949}" type="datetimeFigureOut">
              <a:rPr lang="nl-NL" smtClean="0"/>
              <a:t>23-2-2026</a:t>
            </a:fld>
            <a:endParaRPr lang="nl-NL"/>
          </a:p>
        </p:txBody>
      </p:sp>
      <p:sp>
        <p:nvSpPr>
          <p:cNvPr id="4" name="Tijdelijke aanduiding voor voettekst 3">
            <a:extLst>
              <a:ext uri="{FF2B5EF4-FFF2-40B4-BE49-F238E27FC236}">
                <a16:creationId xmlns:a16="http://schemas.microsoft.com/office/drawing/2014/main" id="{29C166FE-01DB-4F65-AB1C-AC6312E344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48D10FC2-8D7C-4786-A51B-666BD71966B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BDADB5A-DDF7-45B4-A85B-ACE6999A9481}" type="slidenum">
              <a:rPr lang="nl-NL" smtClean="0"/>
              <a:t>‹nr.›</a:t>
            </a:fld>
            <a:endParaRPr lang="nl-NL"/>
          </a:p>
        </p:txBody>
      </p:sp>
    </p:spTree>
    <p:extLst>
      <p:ext uri="{BB962C8B-B14F-4D97-AF65-F5344CB8AC3E}">
        <p14:creationId xmlns:p14="http://schemas.microsoft.com/office/powerpoint/2010/main" val="653790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F81271-B6F7-4A7E-8F6C-1E1DF4AA2733}" type="datetimeFigureOut">
              <a:t>23-2-2026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2CB1C5-35F9-456A-813D-06863788F202}" type="slidenum">
              <a:t>‹nr.›</a:t>
            </a:fld>
            <a:endParaRPr lang="nl-NL"/>
          </a:p>
        </p:txBody>
      </p:sp>
    </p:spTree>
    <p:extLst>
      <p:ext uri="{BB962C8B-B14F-4D97-AF65-F5344CB8AC3E}">
        <p14:creationId xmlns:p14="http://schemas.microsoft.com/office/powerpoint/2010/main" val="3322928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1D2CB1C5-35F9-456A-813D-06863788F202}" type="slidenum">
              <a:rPr lang="nl-NL" smtClean="0"/>
              <a:t>2</a:t>
            </a:fld>
            <a:endParaRPr lang="nl-NL"/>
          </a:p>
        </p:txBody>
      </p:sp>
    </p:spTree>
    <p:extLst>
      <p:ext uri="{BB962C8B-B14F-4D97-AF65-F5344CB8AC3E}">
        <p14:creationId xmlns:p14="http://schemas.microsoft.com/office/powerpoint/2010/main" val="168304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eldia">
    <p:spTree>
      <p:nvGrpSpPr>
        <p:cNvPr id="1" name=""/>
        <p:cNvGrpSpPr/>
        <p:nvPr/>
      </p:nvGrpSpPr>
      <p:grpSpPr>
        <a:xfrm>
          <a:off x="0" y="0"/>
          <a:ext cx="0" cy="0"/>
          <a:chOff x="0" y="0"/>
          <a:chExt cx="0" cy="0"/>
        </a:xfrm>
      </p:grpSpPr>
      <p:pic>
        <p:nvPicPr>
          <p:cNvPr id="16" name="Achtergrond" descr="Afbeelding met Graphics, cirkel, rood, Kleurrijkheid">
            <a:extLst>
              <a:ext uri="{FF2B5EF4-FFF2-40B4-BE49-F238E27FC236}">
                <a16:creationId xmlns:a16="http://schemas.microsoft.com/office/drawing/2014/main" id="{1C0E4BF0-2D09-3EB3-F4D6-F2FA1D06C0CF}"/>
              </a:ext>
            </a:extLst>
          </p:cNvPr>
          <p:cNvPicPr>
            <a:picLocks noChangeAspect="1"/>
          </p:cNvPicPr>
          <p:nvPr userDrawn="1"/>
        </p:nvPicPr>
        <p:blipFill>
          <a:blip r:embed="rId2">
            <a:duotone>
              <a:prstClr val="black"/>
              <a:srgbClr val="4450C6">
                <a:tint val="45000"/>
                <a:satMod val="400000"/>
              </a:srgbClr>
            </a:duotone>
          </a:blip>
          <a:srcRect/>
          <a:stretch>
            <a:fillRect/>
          </a:stretch>
        </p:blipFill>
        <p:spPr>
          <a:xfrm>
            <a:off x="0" y="0"/>
            <a:ext cx="12192000" cy="6858000"/>
          </a:xfrm>
          <a:custGeom>
            <a:avLst/>
            <a:gdLst>
              <a:gd name="connsiteX0" fmla="*/ 11039916 w 12192000"/>
              <a:gd name="connsiteY0" fmla="*/ 4586825 h 6858000"/>
              <a:gd name="connsiteX1" fmla="*/ 9905916 w 12192000"/>
              <a:gd name="connsiteY1" fmla="*/ 5720825 h 6858000"/>
              <a:gd name="connsiteX2" fmla="*/ 11039916 w 12192000"/>
              <a:gd name="connsiteY2" fmla="*/ 6854825 h 6858000"/>
              <a:gd name="connsiteX3" fmla="*/ 12173916 w 12192000"/>
              <a:gd name="connsiteY3" fmla="*/ 5720825 h 6858000"/>
              <a:gd name="connsiteX4" fmla="*/ 11039916 w 12192000"/>
              <a:gd name="connsiteY4" fmla="*/ 4586825 h 6858000"/>
              <a:gd name="connsiteX5" fmla="*/ 0 w 12192000"/>
              <a:gd name="connsiteY5" fmla="*/ 0 h 6858000"/>
              <a:gd name="connsiteX6" fmla="*/ 12192000 w 12192000"/>
              <a:gd name="connsiteY6" fmla="*/ 0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11039916" y="4586825"/>
                </a:moveTo>
                <a:cubicBezTo>
                  <a:pt x="10413625" y="4586825"/>
                  <a:pt x="9905916" y="5094534"/>
                  <a:pt x="9905916" y="5720825"/>
                </a:cubicBezTo>
                <a:cubicBezTo>
                  <a:pt x="9905916" y="6347116"/>
                  <a:pt x="10413625" y="6854825"/>
                  <a:pt x="11039916" y="6854825"/>
                </a:cubicBezTo>
                <a:cubicBezTo>
                  <a:pt x="11666207" y="6854825"/>
                  <a:pt x="12173916" y="6347116"/>
                  <a:pt x="12173916" y="5720825"/>
                </a:cubicBezTo>
                <a:cubicBezTo>
                  <a:pt x="12173916" y="5094534"/>
                  <a:pt x="11666207" y="4586825"/>
                  <a:pt x="11039916" y="4586825"/>
                </a:cubicBezTo>
                <a:close/>
                <a:moveTo>
                  <a:pt x="0" y="0"/>
                </a:moveTo>
                <a:lnTo>
                  <a:pt x="12192000" y="0"/>
                </a:lnTo>
                <a:lnTo>
                  <a:pt x="12192000" y="6858000"/>
                </a:lnTo>
                <a:lnTo>
                  <a:pt x="0" y="6858000"/>
                </a:lnTo>
                <a:close/>
              </a:path>
            </a:pathLst>
          </a:custGeom>
          <a:solidFill>
            <a:schemeClr val="accent1"/>
          </a:solidFill>
          <a:ln>
            <a:solidFill>
              <a:srgbClr val="22243A"/>
            </a:solidFill>
          </a:ln>
        </p:spPr>
      </p:pic>
      <p:sp>
        <p:nvSpPr>
          <p:cNvPr id="11" name="Gemeente logo">
            <a:extLst>
              <a:ext uri="{FF2B5EF4-FFF2-40B4-BE49-F238E27FC236}">
                <a16:creationId xmlns:a16="http://schemas.microsoft.com/office/drawing/2014/main" id="{A8B03389-8D87-5730-317C-4781E3EF1B3C}"/>
              </a:ext>
            </a:extLst>
          </p:cNvPr>
          <p:cNvSpPr>
            <a:spLocks noGrp="1"/>
          </p:cNvSpPr>
          <p:nvPr>
            <p:ph type="pic" sz="quarter" idx="12" hasCustomPrompt="1"/>
          </p:nvPr>
        </p:nvSpPr>
        <p:spPr>
          <a:xfrm>
            <a:off x="1138239" y="935040"/>
            <a:ext cx="2605087" cy="1201737"/>
          </a:xfrm>
          <a:prstGeom prst="rect">
            <a:avLst/>
          </a:prstGeom>
        </p:spPr>
        <p:txBody>
          <a:bodyPr/>
          <a:lstStyle>
            <a:lvl1pPr>
              <a:defRPr sz="1500">
                <a:solidFill>
                  <a:schemeClr val="bg1"/>
                </a:solidFill>
                <a:latin typeface="+mn-lt"/>
              </a:defRPr>
            </a:lvl1pPr>
          </a:lstStyle>
          <a:p>
            <a:r>
              <a:rPr lang="nl-NL" dirty="0"/>
              <a:t>Plaats hier het gemeentelogo</a:t>
            </a:r>
          </a:p>
        </p:txBody>
      </p:sp>
      <p:sp>
        <p:nvSpPr>
          <p:cNvPr id="2" name="Schoolnaam">
            <a:extLst>
              <a:ext uri="{FF2B5EF4-FFF2-40B4-BE49-F238E27FC236}">
                <a16:creationId xmlns:a16="http://schemas.microsoft.com/office/drawing/2014/main" id="{0B12F068-BF71-7820-2B01-4BEFE222F8F3}"/>
              </a:ext>
            </a:extLst>
          </p:cNvPr>
          <p:cNvSpPr>
            <a:spLocks noGrp="1"/>
          </p:cNvSpPr>
          <p:nvPr>
            <p:ph type="body" sz="quarter" idx="14" hasCustomPrompt="1"/>
          </p:nvPr>
        </p:nvSpPr>
        <p:spPr>
          <a:xfrm>
            <a:off x="1141288" y="3429000"/>
            <a:ext cx="6445079" cy="914400"/>
          </a:xfrm>
          <a:prstGeom prst="rect">
            <a:avLst/>
          </a:prstGeom>
        </p:spPr>
        <p:txBody>
          <a:bodyPr anchor="ctr"/>
          <a:lstStyle>
            <a:lvl1pPr marL="0" indent="0">
              <a:buNone/>
              <a:defRPr sz="1800" b="1">
                <a:solidFill>
                  <a:schemeClr val="bg1"/>
                </a:solidFill>
                <a:latin typeface="+mn-lt"/>
              </a:defRPr>
            </a:lvl1pPr>
            <a:lvl2pPr marL="502157" indent="0">
              <a:buNone/>
              <a:defRPr/>
            </a:lvl2pPr>
            <a:lvl3pPr marL="1004317" indent="0">
              <a:buNone/>
              <a:defRPr/>
            </a:lvl3pPr>
            <a:lvl4pPr marL="1506476" indent="0">
              <a:buNone/>
              <a:defRPr/>
            </a:lvl4pPr>
            <a:lvl5pPr marL="2008633" indent="0">
              <a:buNone/>
              <a:defRPr/>
            </a:lvl5pPr>
          </a:lstStyle>
          <a:p>
            <a:pPr lvl="0"/>
            <a:r>
              <a:rPr lang="nl-NL" dirty="0"/>
              <a:t>Schoolnaam</a:t>
            </a:r>
          </a:p>
        </p:txBody>
      </p:sp>
      <p:sp>
        <p:nvSpPr>
          <p:cNvPr id="3" name="Datum">
            <a:extLst>
              <a:ext uri="{FF2B5EF4-FFF2-40B4-BE49-F238E27FC236}">
                <a16:creationId xmlns:a16="http://schemas.microsoft.com/office/drawing/2014/main" id="{6763CF5F-A679-9E02-1217-967552F982A8}"/>
              </a:ext>
            </a:extLst>
          </p:cNvPr>
          <p:cNvSpPr>
            <a:spLocks noGrp="1"/>
          </p:cNvSpPr>
          <p:nvPr>
            <p:ph type="body" sz="quarter" idx="11" hasCustomPrompt="1"/>
          </p:nvPr>
        </p:nvSpPr>
        <p:spPr>
          <a:xfrm>
            <a:off x="1141289" y="4360643"/>
            <a:ext cx="4714875" cy="457200"/>
          </a:xfrm>
          <a:prstGeom prst="rect">
            <a:avLst/>
          </a:prstGeom>
        </p:spPr>
        <p:txBody>
          <a:bodyPr anchor="ctr"/>
          <a:lstStyle>
            <a:lvl1pPr marL="0" indent="0">
              <a:buNone/>
              <a:defRPr sz="1350" b="1">
                <a:solidFill>
                  <a:schemeClr val="bg1"/>
                </a:solidFill>
                <a:latin typeface="+mn-lt"/>
              </a:defRPr>
            </a:lvl1pPr>
            <a:lvl2pPr marL="502157" indent="0">
              <a:buNone/>
              <a:defRPr/>
            </a:lvl2pPr>
            <a:lvl3pPr marL="1004317" indent="0">
              <a:buNone/>
              <a:defRPr/>
            </a:lvl3pPr>
            <a:lvl4pPr marL="1506476" indent="0">
              <a:buNone/>
              <a:defRPr/>
            </a:lvl4pPr>
            <a:lvl5pPr marL="2008633" indent="0">
              <a:buNone/>
              <a:defRPr/>
            </a:lvl5pPr>
          </a:lstStyle>
          <a:p>
            <a:pPr lvl="0"/>
            <a:r>
              <a:rPr lang="nl-NL" dirty="0"/>
              <a:t>Datum</a:t>
            </a:r>
          </a:p>
        </p:txBody>
      </p:sp>
      <p:pic>
        <p:nvPicPr>
          <p:cNvPr id="13" name="GGD Logo" descr="Afbeelding met schermopname, Graphics, logo, grafische vormgeving">
            <a:extLst>
              <a:ext uri="{FF2B5EF4-FFF2-40B4-BE49-F238E27FC236}">
                <a16:creationId xmlns:a16="http://schemas.microsoft.com/office/drawing/2014/main" id="{96AD8988-259F-B3F5-B986-55FAF49C0AD5}"/>
              </a:ext>
            </a:extLst>
          </p:cNvPr>
          <p:cNvPicPr>
            <a:picLocks noChangeAspect="1"/>
          </p:cNvPicPr>
          <p:nvPr userDrawn="1"/>
        </p:nvPicPr>
        <p:blipFill>
          <a:blip r:embed="rId3">
            <a:extLst>
              <a:ext uri="{28A0092B-C50C-407E-A947-70E740481C1C}">
                <a14:useLocalDpi xmlns:a14="http://schemas.microsoft.com/office/drawing/2010/main" val="0"/>
              </a:ext>
            </a:extLst>
          </a:blip>
          <a:srcRect l="4812" t="4590" r="75574" b="76740"/>
          <a:stretch>
            <a:fillRect/>
          </a:stretch>
        </p:blipFill>
        <p:spPr>
          <a:xfrm>
            <a:off x="10205526" y="5274084"/>
            <a:ext cx="1668780" cy="893482"/>
          </a:xfrm>
          <a:prstGeom prst="rect">
            <a:avLst/>
          </a:prstGeom>
        </p:spPr>
      </p:pic>
      <p:sp>
        <p:nvSpPr>
          <p:cNvPr id="4" name="Titel">
            <a:extLst>
              <a:ext uri="{FF2B5EF4-FFF2-40B4-BE49-F238E27FC236}">
                <a16:creationId xmlns:a16="http://schemas.microsoft.com/office/drawing/2014/main" id="{B61AB89E-9409-6D40-D0EB-0CDEC38AFAAC}"/>
              </a:ext>
            </a:extLst>
          </p:cNvPr>
          <p:cNvSpPr txBox="1"/>
          <p:nvPr userDrawn="1"/>
        </p:nvSpPr>
        <p:spPr>
          <a:xfrm>
            <a:off x="1137610" y="2791510"/>
            <a:ext cx="4863600" cy="523220"/>
          </a:xfrm>
          <a:prstGeom prst="rect">
            <a:avLst/>
          </a:prstGeom>
          <a:noFill/>
        </p:spPr>
        <p:txBody>
          <a:bodyPr wrap="square" rtlCol="0">
            <a:spAutoFit/>
          </a:bodyPr>
          <a:lstStyle/>
          <a:p>
            <a:r>
              <a:rPr lang="nl-NL" sz="2800" b="1" dirty="0">
                <a:solidFill>
                  <a:schemeClr val="bg1"/>
                </a:solidFill>
              </a:rPr>
              <a:t>Schoolprofiel OKO 2025</a:t>
            </a:r>
          </a:p>
        </p:txBody>
      </p:sp>
    </p:spTree>
    <p:extLst>
      <p:ext uri="{BB962C8B-B14F-4D97-AF65-F5344CB8AC3E}">
        <p14:creationId xmlns:p14="http://schemas.microsoft.com/office/powerpoint/2010/main" val="4263179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oudsopgave">
    <p:spTree>
      <p:nvGrpSpPr>
        <p:cNvPr id="1" name=""/>
        <p:cNvGrpSpPr/>
        <p:nvPr/>
      </p:nvGrpSpPr>
      <p:grpSpPr>
        <a:xfrm>
          <a:off x="0" y="0"/>
          <a:ext cx="0" cy="0"/>
          <a:chOff x="0" y="0"/>
          <a:chExt cx="0" cy="0"/>
        </a:xfrm>
      </p:grpSpPr>
      <p:cxnSp>
        <p:nvCxnSpPr>
          <p:cNvPr id="2" name="Rechter scheidingslijn" hidden="1">
            <a:extLst>
              <a:ext uri="{FF2B5EF4-FFF2-40B4-BE49-F238E27FC236}">
                <a16:creationId xmlns:a16="http://schemas.microsoft.com/office/drawing/2014/main" id="{4F24702C-E64E-2547-EF7A-D18982DAC4CD}"/>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Linker scheidingslijn" hidden="1">
            <a:extLst>
              <a:ext uri="{FF2B5EF4-FFF2-40B4-BE49-F238E27FC236}">
                <a16:creationId xmlns:a16="http://schemas.microsoft.com/office/drawing/2014/main" id="{024B5762-4C9B-2E1A-D584-EA7C43CAD9B0}"/>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6" name="Rechtervlak" hidden="1">
            <a:extLst>
              <a:ext uri="{FF2B5EF4-FFF2-40B4-BE49-F238E27FC236}">
                <a16:creationId xmlns:a16="http://schemas.microsoft.com/office/drawing/2014/main" id="{C48817EE-9108-2543-1BCB-27B17B31E919}"/>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7" name="Middenvlak" hidden="1">
            <a:extLst>
              <a:ext uri="{FF2B5EF4-FFF2-40B4-BE49-F238E27FC236}">
                <a16:creationId xmlns:a16="http://schemas.microsoft.com/office/drawing/2014/main" id="{E136F790-08A3-3874-D920-266B03612B9F}"/>
              </a:ext>
            </a:extLst>
          </p:cNvPr>
          <p:cNvSpPr/>
          <p:nvPr userDrawn="1"/>
        </p:nvSpPr>
        <p:spPr>
          <a:xfrm>
            <a:off x="4368870" y="151920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8" name="Linkervlak" hidden="1">
            <a:extLst>
              <a:ext uri="{FF2B5EF4-FFF2-40B4-BE49-F238E27FC236}">
                <a16:creationId xmlns:a16="http://schemas.microsoft.com/office/drawing/2014/main" id="{D6EE9A9C-0C94-24AE-98D4-30E97FD9D95E}"/>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0" name="Driehoek">
            <a:extLst>
              <a:ext uri="{FF2B5EF4-FFF2-40B4-BE49-F238E27FC236}">
                <a16:creationId xmlns:a16="http://schemas.microsoft.com/office/drawing/2014/main" id="{D382B982-138B-EF5F-A4A3-F952DD1C516E}"/>
              </a:ext>
            </a:extLst>
          </p:cNvPr>
          <p:cNvSpPr/>
          <p:nvPr userDrawn="1"/>
        </p:nvSpPr>
        <p:spPr>
          <a:xfrm rot="10800000" flipH="1">
            <a:off x="9719595" y="0"/>
            <a:ext cx="576000" cy="1066800"/>
          </a:xfrm>
          <a:prstGeom prst="rtTriangle">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11" name="Titelblok">
            <a:extLst>
              <a:ext uri="{FF2B5EF4-FFF2-40B4-BE49-F238E27FC236}">
                <a16:creationId xmlns:a16="http://schemas.microsoft.com/office/drawing/2014/main" id="{25BB0762-1AD0-F5A1-E01E-F53682EB8F5D}"/>
              </a:ext>
            </a:extLst>
          </p:cNvPr>
          <p:cNvSpPr/>
          <p:nvPr userDrawn="1"/>
        </p:nvSpPr>
        <p:spPr>
          <a:xfrm>
            <a:off x="0" y="0"/>
            <a:ext cx="9719589" cy="1066800"/>
          </a:xfrm>
          <a:prstGeom prst="rect">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Inhoudsopgave</a:t>
            </a:r>
            <a:endParaRPr lang="nl-NL" sz="1800" b="1" noProof="0" dirty="0">
              <a:latin typeface="Century Gothic" panose="020B0502020202020204" pitchFamily="34" charset="0"/>
            </a:endParaRPr>
          </a:p>
        </p:txBody>
      </p:sp>
    </p:spTree>
    <p:extLst>
      <p:ext uri="{BB962C8B-B14F-4D97-AF65-F5344CB8AC3E}">
        <p14:creationId xmlns:p14="http://schemas.microsoft.com/office/powerpoint/2010/main" val="20364135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elichting">
    <p:spTree>
      <p:nvGrpSpPr>
        <p:cNvPr id="1" name=""/>
        <p:cNvGrpSpPr/>
        <p:nvPr/>
      </p:nvGrpSpPr>
      <p:grpSpPr>
        <a:xfrm>
          <a:off x="0" y="0"/>
          <a:ext cx="0" cy="0"/>
          <a:chOff x="0" y="0"/>
          <a:chExt cx="0" cy="0"/>
        </a:xfrm>
      </p:grpSpPr>
      <p:cxnSp>
        <p:nvCxnSpPr>
          <p:cNvPr id="3" name="Rechter scheidingslijn" hidden="1">
            <a:extLst>
              <a:ext uri="{FF2B5EF4-FFF2-40B4-BE49-F238E27FC236}">
                <a16:creationId xmlns:a16="http://schemas.microsoft.com/office/drawing/2014/main" id="{FDECFAAB-D754-F97C-74FE-839594156FA2}"/>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5" name="Linker scheidingslijn" hidden="1">
            <a:extLst>
              <a:ext uri="{FF2B5EF4-FFF2-40B4-BE49-F238E27FC236}">
                <a16:creationId xmlns:a16="http://schemas.microsoft.com/office/drawing/2014/main" id="{2D7E72C6-5CA6-7B1A-0C91-91CE52CD78AE}"/>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 name="Rechtervlak" hidden="1">
            <a:extLst>
              <a:ext uri="{FF2B5EF4-FFF2-40B4-BE49-F238E27FC236}">
                <a16:creationId xmlns:a16="http://schemas.microsoft.com/office/drawing/2014/main" id="{B3354C12-7F6E-3696-5BCB-73772B9B0AF7}"/>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9" name="Middenvlak" hidden="1">
            <a:extLst>
              <a:ext uri="{FF2B5EF4-FFF2-40B4-BE49-F238E27FC236}">
                <a16:creationId xmlns:a16="http://schemas.microsoft.com/office/drawing/2014/main" id="{C3B8DC55-799A-9CEE-0ED8-0B8FED5F931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0" name="Linkervlak" hidden="1">
            <a:extLst>
              <a:ext uri="{FF2B5EF4-FFF2-40B4-BE49-F238E27FC236}">
                <a16:creationId xmlns:a16="http://schemas.microsoft.com/office/drawing/2014/main" id="{61963E38-AC16-8FB5-CE17-33645891A9B4}"/>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 name="Driehoek">
            <a:extLst>
              <a:ext uri="{FF2B5EF4-FFF2-40B4-BE49-F238E27FC236}">
                <a16:creationId xmlns:a16="http://schemas.microsoft.com/office/drawing/2014/main" id="{6BF81F9D-47A9-F838-539A-4DA092003706}"/>
              </a:ext>
            </a:extLst>
          </p:cNvPr>
          <p:cNvSpPr/>
          <p:nvPr userDrawn="1"/>
        </p:nvSpPr>
        <p:spPr>
          <a:xfrm rot="10800000" flipH="1">
            <a:off x="9719595" y="0"/>
            <a:ext cx="576000" cy="1066800"/>
          </a:xfrm>
          <a:prstGeom prst="rtTriangle">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mn-lt"/>
            </a:endParaRPr>
          </a:p>
        </p:txBody>
      </p:sp>
      <p:sp>
        <p:nvSpPr>
          <p:cNvPr id="6" name="Titelblok">
            <a:extLst>
              <a:ext uri="{FF2B5EF4-FFF2-40B4-BE49-F238E27FC236}">
                <a16:creationId xmlns:a16="http://schemas.microsoft.com/office/drawing/2014/main" id="{07B0C315-6B31-EEFE-32F9-63CE169AD419}"/>
              </a:ext>
            </a:extLst>
          </p:cNvPr>
          <p:cNvSpPr/>
          <p:nvPr userDrawn="1"/>
        </p:nvSpPr>
        <p:spPr>
          <a:xfrm>
            <a:off x="0" y="0"/>
            <a:ext cx="9719589" cy="1066800"/>
          </a:xfrm>
          <a:prstGeom prst="rect">
            <a:avLst/>
          </a:prstGeom>
          <a:solidFill>
            <a:srgbClr val="0117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mn-lt"/>
              </a:rPr>
              <a:t>Toelichting</a:t>
            </a:r>
            <a:endParaRPr lang="nl-NL" sz="1800" b="1" noProof="0" dirty="0">
              <a:latin typeface="+mn-lt"/>
            </a:endParaRPr>
          </a:p>
        </p:txBody>
      </p:sp>
      <p:sp>
        <p:nvSpPr>
          <p:cNvPr id="7" name="Tekstvak 6">
            <a:extLst>
              <a:ext uri="{FF2B5EF4-FFF2-40B4-BE49-F238E27FC236}">
                <a16:creationId xmlns:a16="http://schemas.microsoft.com/office/drawing/2014/main" id="{AA0CA219-2428-2DC8-8B60-DFF85A1CC921}"/>
              </a:ext>
            </a:extLst>
          </p:cNvPr>
          <p:cNvSpPr txBox="1"/>
          <p:nvPr userDrawn="1"/>
        </p:nvSpPr>
        <p:spPr>
          <a:xfrm>
            <a:off x="457220" y="1531527"/>
            <a:ext cx="11277561" cy="1631216"/>
          </a:xfrm>
          <a:prstGeom prst="rect">
            <a:avLst/>
          </a:prstGeom>
          <a:noFill/>
        </p:spPr>
        <p:txBody>
          <a:bodyPr wrap="square" rtlCol="0">
            <a:spAutoFit/>
          </a:bodyPr>
          <a:lstStyle/>
          <a:p>
            <a:r>
              <a:rPr lang="nl-NL" sz="1000" b="1" dirty="0">
                <a:latin typeface="+mn-lt"/>
                <a:cs typeface="Arial" panose="020B0604020202020204" pitchFamily="34" charset="0"/>
              </a:rPr>
              <a:t>OKO Gezondheidsmonitor 2025</a:t>
            </a:r>
          </a:p>
          <a:p>
            <a:r>
              <a:rPr lang="nl-NL" sz="1000" dirty="0">
                <a:latin typeface="+mn-lt"/>
                <a:cs typeface="Arial" panose="020B0604020202020204" pitchFamily="34" charset="0"/>
              </a:rPr>
              <a:t>OKO is een meerjarige aanpak die de gemeente inzet om te voorkomen dat jongeren onder de 18 jaar alcohol, nicotine of drugs gaan gebruiken. De aanpak richt zich op beschermende en risicofactoren in de leefomgeving van jongeren. Samenwerkingspartners gaan met elkaar aan de slag om de beschermende factoren te versterken en de risicofactoren te verminderen. Dat doen ze in elk van de volgende vier leefomgevingen van jongeren: Gezin, Leeftijdsgenoten, School en Vrije tijd. Deze omgevingsgerichte aanpak draagt naast het voorkomen van middelengebruik ook bij aan het mentale welbevinden van jongeren.</a:t>
            </a:r>
          </a:p>
          <a:p>
            <a:endParaRPr lang="nl-NL" sz="1000" dirty="0">
              <a:latin typeface="+mn-lt"/>
              <a:cs typeface="Arial" panose="020B0604020202020204" pitchFamily="34" charset="0"/>
            </a:endParaRPr>
          </a:p>
          <a:p>
            <a:r>
              <a:rPr lang="nl-NL" sz="1000" dirty="0">
                <a:latin typeface="+mn-lt"/>
                <a:cs typeface="Arial" panose="020B0604020202020204" pitchFamily="34" charset="0"/>
              </a:rPr>
              <a:t>De OKO Gezondheidsmonitor is in het najaar van 2025 afgenomen onder jongeren in leerjaar 2 en 4 van het regulier voortgezet onderwijs.</a:t>
            </a:r>
          </a:p>
          <a:p>
            <a:endParaRPr lang="nl-NL" sz="1000" dirty="0">
              <a:latin typeface="+mn-lt"/>
              <a:cs typeface="Arial" panose="020B0604020202020204" pitchFamily="34" charset="0"/>
            </a:endParaRPr>
          </a:p>
          <a:p>
            <a:r>
              <a:rPr lang="nl-NL" sz="1000" dirty="0">
                <a:latin typeface="+mn-lt"/>
                <a:cs typeface="Arial" panose="020B0604020202020204" pitchFamily="34" charset="0"/>
              </a:rPr>
              <a:t>In deze rapportage zijn alleen antwoorden meegenomen waarbij minimaal 30 leerlingen de betreffende vraag hebben ingevuld én minimaal 5 leerlingen het betreffende antwoord hebben aangekruist. Bij een lagere respons is de privacy van de leerlingen niet meer gewaarborgd en zijn de resultaten onvoldoende betrouwbaar.</a:t>
            </a:r>
          </a:p>
        </p:txBody>
      </p:sp>
      <p:sp>
        <p:nvSpPr>
          <p:cNvPr id="11" name="Responstabel">
            <a:extLst>
              <a:ext uri="{FF2B5EF4-FFF2-40B4-BE49-F238E27FC236}">
                <a16:creationId xmlns:a16="http://schemas.microsoft.com/office/drawing/2014/main" id="{9A854317-E31C-6BC1-5B71-F076BEBBBF41}"/>
              </a:ext>
            </a:extLst>
          </p:cNvPr>
          <p:cNvSpPr>
            <a:spLocks noGrp="1"/>
          </p:cNvSpPr>
          <p:nvPr>
            <p:ph type="tbl" sz="quarter" idx="10" hasCustomPrompt="1"/>
          </p:nvPr>
        </p:nvSpPr>
        <p:spPr>
          <a:xfrm>
            <a:off x="457220" y="3429000"/>
            <a:ext cx="5400000" cy="2700000"/>
          </a:xfrm>
          <a:prstGeom prst="rect">
            <a:avLst/>
          </a:prstGeom>
        </p:spPr>
        <p:txBody>
          <a:bodyPr/>
          <a:lstStyle>
            <a:lvl1pPr marL="0" indent="0">
              <a:buFontTx/>
              <a:buNone/>
              <a:defRPr sz="3200">
                <a:latin typeface="+mn-lt"/>
              </a:defRPr>
            </a:lvl1pPr>
          </a:lstStyle>
          <a:p>
            <a:r>
              <a:rPr lang="nl-NL" noProof="0"/>
              <a:t>Responstabel</a:t>
            </a:r>
          </a:p>
        </p:txBody>
      </p:sp>
      <p:pic>
        <p:nvPicPr>
          <p:cNvPr id="2" name="Tijdelijke aanduiding voor tabel 6">
            <a:extLst>
              <a:ext uri="{FF2B5EF4-FFF2-40B4-BE49-F238E27FC236}">
                <a16:creationId xmlns:a16="http://schemas.microsoft.com/office/drawing/2014/main" id="{9E694703-6FF2-B7E3-6462-431B2CE255CF}"/>
              </a:ext>
            </a:extLst>
          </p:cNvPr>
          <p:cNvPicPr>
            <a:picLocks noChangeAspect="1"/>
          </p:cNvPicPr>
          <p:nvPr userDrawn="1"/>
        </p:nvPicPr>
        <p:blipFill>
          <a:blip r:embed="rId2"/>
          <a:srcRect t="13216" b="14645"/>
          <a:stretch>
            <a:fillRect/>
          </a:stretch>
        </p:blipFill>
        <p:spPr>
          <a:xfrm>
            <a:off x="6346301" y="3373032"/>
            <a:ext cx="5291718" cy="2811936"/>
          </a:xfrm>
          <a:prstGeom prst="rect">
            <a:avLst/>
          </a:prstGeom>
        </p:spPr>
      </p:pic>
    </p:spTree>
    <p:extLst>
      <p:ext uri="{BB962C8B-B14F-4D97-AF65-F5344CB8AC3E}">
        <p14:creationId xmlns:p14="http://schemas.microsoft.com/office/powerpoint/2010/main" val="5850299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zondheid">
    <p:spTree>
      <p:nvGrpSpPr>
        <p:cNvPr id="1" name=""/>
        <p:cNvGrpSpPr/>
        <p:nvPr/>
      </p:nvGrpSpPr>
      <p:grpSpPr>
        <a:xfrm>
          <a:off x="0" y="0"/>
          <a:ext cx="0" cy="0"/>
          <a:chOff x="0" y="0"/>
          <a:chExt cx="0" cy="0"/>
        </a:xfrm>
      </p:grpSpPr>
      <p:cxnSp>
        <p:nvCxnSpPr>
          <p:cNvPr id="6" name="Rechter scheidingslijn">
            <a:extLst>
              <a:ext uri="{FF2B5EF4-FFF2-40B4-BE49-F238E27FC236}">
                <a16:creationId xmlns:a16="http://schemas.microsoft.com/office/drawing/2014/main" id="{7DC6EEF1-E10D-4A9D-BAAB-B80128CFA9A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Linker scheidingslijn">
            <a:extLst>
              <a:ext uri="{FF2B5EF4-FFF2-40B4-BE49-F238E27FC236}">
                <a16:creationId xmlns:a16="http://schemas.microsoft.com/office/drawing/2014/main" id="{5D2F1186-7B59-72A8-4592-0DFDF921B9C6}"/>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htervlak" hidden="1">
            <a:extLst>
              <a:ext uri="{FF2B5EF4-FFF2-40B4-BE49-F238E27FC236}">
                <a16:creationId xmlns:a16="http://schemas.microsoft.com/office/drawing/2014/main" id="{2AB83298-1132-DCAE-0651-FFCF6A6BBED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Middenvlak" hidden="1">
            <a:extLst>
              <a:ext uri="{FF2B5EF4-FFF2-40B4-BE49-F238E27FC236}">
                <a16:creationId xmlns:a16="http://schemas.microsoft.com/office/drawing/2014/main" id="{C49D12F7-13AF-A61C-E6A3-0B8A65611D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5" name="Linkervlak" hidden="1">
            <a:extLst>
              <a:ext uri="{FF2B5EF4-FFF2-40B4-BE49-F238E27FC236}">
                <a16:creationId xmlns:a16="http://schemas.microsoft.com/office/drawing/2014/main" id="{966327DC-A2CA-F917-57C8-2311909BFC4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Driehoek">
            <a:extLst>
              <a:ext uri="{FF2B5EF4-FFF2-40B4-BE49-F238E27FC236}">
                <a16:creationId xmlns:a16="http://schemas.microsoft.com/office/drawing/2014/main" id="{586A169A-7A17-2F3F-B192-FACC840B995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400" b="1">
              <a:latin typeface="Century Gothic" panose="020B0502020202020204" pitchFamily="34" charset="0"/>
            </a:endParaRPr>
          </a:p>
        </p:txBody>
      </p:sp>
      <p:sp>
        <p:nvSpPr>
          <p:cNvPr id="20" name="Titelblok">
            <a:extLst>
              <a:ext uri="{FF2B5EF4-FFF2-40B4-BE49-F238E27FC236}">
                <a16:creationId xmlns:a16="http://schemas.microsoft.com/office/drawing/2014/main" id="{09DB097E-8577-1284-CB7B-3627CC87E0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Gezondheid en eenzaamheid</a:t>
            </a:r>
          </a:p>
        </p:txBody>
      </p:sp>
      <p:sp>
        <p:nvSpPr>
          <p:cNvPr id="3" name="Tekstvak 2">
            <a:extLst>
              <a:ext uri="{FF2B5EF4-FFF2-40B4-BE49-F238E27FC236}">
                <a16:creationId xmlns:a16="http://schemas.microsoft.com/office/drawing/2014/main" id="{DBB94449-5BD6-0E92-A1D1-7AB05F3ABB97}"/>
              </a:ext>
            </a:extLst>
          </p:cNvPr>
          <p:cNvSpPr txBox="1"/>
          <p:nvPr userDrawn="1"/>
        </p:nvSpPr>
        <p:spPr>
          <a:xfrm>
            <a:off x="5393832" y="2976525"/>
            <a:ext cx="2420287"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ervaart de eigen mentale gezondheid als (heel) goed</a:t>
            </a:r>
          </a:p>
        </p:txBody>
      </p:sp>
      <p:sp>
        <p:nvSpPr>
          <p:cNvPr id="29" name="TextBox 1">
            <a:extLst>
              <a:ext uri="{FF2B5EF4-FFF2-40B4-BE49-F238E27FC236}">
                <a16:creationId xmlns:a16="http://schemas.microsoft.com/office/drawing/2014/main" id="{665FFA3C-9688-3102-AB45-7828DF662A5A}"/>
              </a:ext>
            </a:extLst>
          </p:cNvPr>
          <p:cNvSpPr txBox="1"/>
          <p:nvPr userDrawn="1"/>
        </p:nvSpPr>
        <p:spPr>
          <a:xfrm>
            <a:off x="457219" y="1519201"/>
            <a:ext cx="3456000" cy="34624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Ervaren gezondheid is een betrouwbare indicator voor de algehele gezondheidstoestand van jongeren.</a:t>
            </a:r>
          </a:p>
        </p:txBody>
      </p:sp>
      <p:sp>
        <p:nvSpPr>
          <p:cNvPr id="8" name="Tekstvak 7">
            <a:extLst>
              <a:ext uri="{FF2B5EF4-FFF2-40B4-BE49-F238E27FC236}">
                <a16:creationId xmlns:a16="http://schemas.microsoft.com/office/drawing/2014/main" id="{3A2A39C7-5342-D2BD-DCFF-D6D224422930}"/>
              </a:ext>
            </a:extLst>
          </p:cNvPr>
          <p:cNvSpPr txBox="1"/>
          <p:nvPr userDrawn="1"/>
        </p:nvSpPr>
        <p:spPr>
          <a:xfrm>
            <a:off x="9347499" y="2976525"/>
            <a:ext cx="2378270"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voelde zich soms tot altijd eenzaam in de afgelopen 4 weken</a:t>
            </a:r>
          </a:p>
        </p:txBody>
      </p:sp>
      <p:sp>
        <p:nvSpPr>
          <p:cNvPr id="10" name="Tekstvak 9">
            <a:extLst>
              <a:ext uri="{FF2B5EF4-FFF2-40B4-BE49-F238E27FC236}">
                <a16:creationId xmlns:a16="http://schemas.microsoft.com/office/drawing/2014/main" id="{4D53EAB4-ED05-F6D0-5CC9-AAF6EEE422D6}"/>
              </a:ext>
            </a:extLst>
          </p:cNvPr>
          <p:cNvSpPr txBox="1"/>
          <p:nvPr userDrawn="1"/>
        </p:nvSpPr>
        <p:spPr>
          <a:xfrm>
            <a:off x="1523903" y="2976525"/>
            <a:ext cx="2378564" cy="400110"/>
          </a:xfrm>
          <a:prstGeom prst="rect">
            <a:avLst/>
          </a:prstGeom>
          <a:noFill/>
        </p:spPr>
        <p:txBody>
          <a:bodyPr wrap="square" rtlCol="0">
            <a:spAutoFit/>
          </a:bodyPr>
          <a:lstStyle/>
          <a:p>
            <a:r>
              <a:rPr lang="nl-NL" sz="1000" b="1" dirty="0">
                <a:solidFill>
                  <a:schemeClr val="tx1"/>
                </a:solidFill>
                <a:latin typeface="Century Gothic" panose="020B0502020202020204" pitchFamily="34" charset="0"/>
                <a:cs typeface="Arial" panose="020B0604020202020204" pitchFamily="34" charset="0"/>
              </a:rPr>
              <a:t>ervaart de eigen algemene gezondheid als (zeer) goed</a:t>
            </a:r>
          </a:p>
        </p:txBody>
      </p:sp>
      <p:sp>
        <p:nvSpPr>
          <p:cNvPr id="16" name="TextBox 1">
            <a:extLst>
              <a:ext uri="{FF2B5EF4-FFF2-40B4-BE49-F238E27FC236}">
                <a16:creationId xmlns:a16="http://schemas.microsoft.com/office/drawing/2014/main" id="{39DA7E63-F8DB-69F2-E53A-B92720D0DB73}"/>
              </a:ext>
            </a:extLst>
          </p:cNvPr>
          <p:cNvSpPr txBox="1"/>
          <p:nvPr userDrawn="1"/>
        </p:nvSpPr>
        <p:spPr>
          <a:xfrm>
            <a:off x="4365366" y="1519200"/>
            <a:ext cx="3456000" cy="34624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Jongeren is ook gevraagd hoe ze zelf hun mentale gezondheid ervaren.</a:t>
            </a:r>
          </a:p>
        </p:txBody>
      </p:sp>
      <p:sp>
        <p:nvSpPr>
          <p:cNvPr id="17" name="TextBox 1">
            <a:extLst>
              <a:ext uri="{FF2B5EF4-FFF2-40B4-BE49-F238E27FC236}">
                <a16:creationId xmlns:a16="http://schemas.microsoft.com/office/drawing/2014/main" id="{83BD08AD-0583-B8D4-FD8D-EC44809BEB33}"/>
              </a:ext>
            </a:extLst>
          </p:cNvPr>
          <p:cNvSpPr txBox="1"/>
          <p:nvPr userDrawn="1"/>
        </p:nvSpPr>
        <p:spPr>
          <a:xfrm>
            <a:off x="8273513" y="1519199"/>
            <a:ext cx="3456000" cy="761747"/>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900" b="0" dirty="0">
                <a:latin typeface="Century Gothic" panose="020B0502020202020204" pitchFamily="34" charset="0"/>
                <a:cs typeface="Arial" panose="020B0604020202020204" pitchFamily="34" charset="0"/>
              </a:rPr>
              <a:t>Jongeren kunnen zich eenzaam voelen, ondanks een groot sociaal netwerk. Gevoelens van eenzaamheid kunnen onder andere voortkomen uit een negatief zelfbeeld, onbegrepen voelen, weinig sociale vaardigheden of een moeizame thuissituatie.</a:t>
            </a:r>
          </a:p>
        </p:txBody>
      </p:sp>
      <p:sp>
        <p:nvSpPr>
          <p:cNvPr id="21" name="Grafiek eenzaam">
            <a:extLst>
              <a:ext uri="{FF2B5EF4-FFF2-40B4-BE49-F238E27FC236}">
                <a16:creationId xmlns:a16="http://schemas.microsoft.com/office/drawing/2014/main" id="{A1DFC9B8-E1E8-33C7-87FC-C3F346814DBD}"/>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2800"/>
            </a:lvl1pPr>
          </a:lstStyle>
          <a:p>
            <a:endParaRPr lang="nl-NL" dirty="0"/>
          </a:p>
        </p:txBody>
      </p:sp>
      <p:sp>
        <p:nvSpPr>
          <p:cNvPr id="9" name="Percentage eenzaam">
            <a:extLst>
              <a:ext uri="{FF2B5EF4-FFF2-40B4-BE49-F238E27FC236}">
                <a16:creationId xmlns:a16="http://schemas.microsoft.com/office/drawing/2014/main" id="{48474979-3912-7E33-CD5B-7CCA5A5FF403}"/>
              </a:ext>
            </a:extLst>
          </p:cNvPr>
          <p:cNvSpPr>
            <a:spLocks noGrp="1"/>
          </p:cNvSpPr>
          <p:nvPr>
            <p:ph type="body" sz="quarter" idx="22" hasCustomPrompt="1"/>
          </p:nvPr>
        </p:nvSpPr>
        <p:spPr>
          <a:xfrm>
            <a:off x="8511120"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23" name="Grafiek mentaal">
            <a:extLst>
              <a:ext uri="{FF2B5EF4-FFF2-40B4-BE49-F238E27FC236}">
                <a16:creationId xmlns:a16="http://schemas.microsoft.com/office/drawing/2014/main" id="{14582CEC-4D12-FA6E-3C61-CC5836BB026E}"/>
              </a:ext>
            </a:extLst>
          </p:cNvPr>
          <p:cNvSpPr>
            <a:spLocks noGrp="1"/>
          </p:cNvSpPr>
          <p:nvPr>
            <p:ph type="chart" sz="quarter" idx="19"/>
          </p:nvPr>
        </p:nvSpPr>
        <p:spPr>
          <a:xfrm>
            <a:off x="4365366" y="4024800"/>
            <a:ext cx="3456000" cy="2340000"/>
          </a:xfrm>
          <a:prstGeom prst="rect">
            <a:avLst/>
          </a:prstGeom>
        </p:spPr>
        <p:txBody>
          <a:bodyPr/>
          <a:lstStyle>
            <a:lvl1pPr marL="0" indent="0">
              <a:buNone/>
              <a:defRPr sz="2800"/>
            </a:lvl1pPr>
          </a:lstStyle>
          <a:p>
            <a:endParaRPr lang="nl-NL" dirty="0"/>
          </a:p>
        </p:txBody>
      </p:sp>
      <p:sp>
        <p:nvSpPr>
          <p:cNvPr id="4" name="Percentage mentaal">
            <a:extLst>
              <a:ext uri="{FF2B5EF4-FFF2-40B4-BE49-F238E27FC236}">
                <a16:creationId xmlns:a16="http://schemas.microsoft.com/office/drawing/2014/main" id="{90719C87-AD08-2C55-B688-CD3815C29D24}"/>
              </a:ext>
            </a:extLst>
          </p:cNvPr>
          <p:cNvSpPr>
            <a:spLocks noGrp="1"/>
          </p:cNvSpPr>
          <p:nvPr>
            <p:ph type="body" sz="quarter" idx="18" hasCustomPrompt="1"/>
          </p:nvPr>
        </p:nvSpPr>
        <p:spPr>
          <a:xfrm>
            <a:off x="4557454"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22" name="Grafiek gezondheid">
            <a:extLst>
              <a:ext uri="{FF2B5EF4-FFF2-40B4-BE49-F238E27FC236}">
                <a16:creationId xmlns:a16="http://schemas.microsoft.com/office/drawing/2014/main" id="{AEC6019B-E5C6-DD62-B766-72C2710F2BA9}"/>
              </a:ext>
            </a:extLst>
          </p:cNvPr>
          <p:cNvSpPr>
            <a:spLocks noGrp="1"/>
          </p:cNvSpPr>
          <p:nvPr>
            <p:ph type="chart" sz="quarter" idx="21"/>
          </p:nvPr>
        </p:nvSpPr>
        <p:spPr>
          <a:xfrm>
            <a:off x="455539" y="4024800"/>
            <a:ext cx="3456000" cy="2340000"/>
          </a:xfrm>
          <a:prstGeom prst="rect">
            <a:avLst/>
          </a:prstGeom>
        </p:spPr>
        <p:txBody>
          <a:bodyPr/>
          <a:lstStyle>
            <a:lvl1pPr marL="0" indent="0">
              <a:buNone/>
              <a:defRPr sz="2800"/>
            </a:lvl1pPr>
          </a:lstStyle>
          <a:p>
            <a:endParaRPr lang="nl-NL" dirty="0"/>
          </a:p>
        </p:txBody>
      </p:sp>
      <p:sp>
        <p:nvSpPr>
          <p:cNvPr id="13" name="Percentage gezondheid">
            <a:extLst>
              <a:ext uri="{FF2B5EF4-FFF2-40B4-BE49-F238E27FC236}">
                <a16:creationId xmlns:a16="http://schemas.microsoft.com/office/drawing/2014/main" id="{8FE7DD93-8611-447B-5FC7-F00B51EFA9AC}"/>
              </a:ext>
            </a:extLst>
          </p:cNvPr>
          <p:cNvSpPr>
            <a:spLocks noGrp="1"/>
          </p:cNvSpPr>
          <p:nvPr>
            <p:ph type="body" sz="quarter" idx="23" hasCustomPrompt="1"/>
          </p:nvPr>
        </p:nvSpPr>
        <p:spPr>
          <a:xfrm>
            <a:off x="687524" y="2772868"/>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1058498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zondheid 2">
    <p:spTree>
      <p:nvGrpSpPr>
        <p:cNvPr id="1" name=""/>
        <p:cNvGrpSpPr/>
        <p:nvPr/>
      </p:nvGrpSpPr>
      <p:grpSpPr>
        <a:xfrm>
          <a:off x="0" y="0"/>
          <a:ext cx="0" cy="0"/>
          <a:chOff x="0" y="0"/>
          <a:chExt cx="0" cy="0"/>
        </a:xfrm>
      </p:grpSpPr>
      <p:cxnSp>
        <p:nvCxnSpPr>
          <p:cNvPr id="6" name="Rechter scheidingslijn">
            <a:extLst>
              <a:ext uri="{FF2B5EF4-FFF2-40B4-BE49-F238E27FC236}">
                <a16:creationId xmlns:a16="http://schemas.microsoft.com/office/drawing/2014/main" id="{7DC6EEF1-E10D-4A9D-BAAB-B80128CFA9A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7" name="Linker scheidingslijn">
            <a:extLst>
              <a:ext uri="{FF2B5EF4-FFF2-40B4-BE49-F238E27FC236}">
                <a16:creationId xmlns:a16="http://schemas.microsoft.com/office/drawing/2014/main" id="{5D2F1186-7B59-72A8-4592-0DFDF921B9C6}"/>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1" name="Rechtervlak" hidden="1">
            <a:extLst>
              <a:ext uri="{FF2B5EF4-FFF2-40B4-BE49-F238E27FC236}">
                <a16:creationId xmlns:a16="http://schemas.microsoft.com/office/drawing/2014/main" id="{2AB83298-1132-DCAE-0651-FFCF6A6BBED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Middenvlak" hidden="1">
            <a:extLst>
              <a:ext uri="{FF2B5EF4-FFF2-40B4-BE49-F238E27FC236}">
                <a16:creationId xmlns:a16="http://schemas.microsoft.com/office/drawing/2014/main" id="{C49D12F7-13AF-A61C-E6A3-0B8A65611D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5" name="Linkervlak" hidden="1">
            <a:extLst>
              <a:ext uri="{FF2B5EF4-FFF2-40B4-BE49-F238E27FC236}">
                <a16:creationId xmlns:a16="http://schemas.microsoft.com/office/drawing/2014/main" id="{966327DC-A2CA-F917-57C8-2311909BFC4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Driehoek">
            <a:extLst>
              <a:ext uri="{FF2B5EF4-FFF2-40B4-BE49-F238E27FC236}">
                <a16:creationId xmlns:a16="http://schemas.microsoft.com/office/drawing/2014/main" id="{586A169A-7A17-2F3F-B192-FACC840B995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0" name="Titelblok">
            <a:extLst>
              <a:ext uri="{FF2B5EF4-FFF2-40B4-BE49-F238E27FC236}">
                <a16:creationId xmlns:a16="http://schemas.microsoft.com/office/drawing/2014/main" id="{09DB097E-8577-1284-CB7B-3627CC87E0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Emotioneel welbevinden, stress en weerbaarheid</a:t>
            </a:r>
          </a:p>
        </p:txBody>
      </p:sp>
      <p:sp>
        <p:nvSpPr>
          <p:cNvPr id="29" name="TextBox 1">
            <a:extLst>
              <a:ext uri="{FF2B5EF4-FFF2-40B4-BE49-F238E27FC236}">
                <a16:creationId xmlns:a16="http://schemas.microsoft.com/office/drawing/2014/main" id="{665FFA3C-9688-3102-AB45-7828DF662A5A}"/>
              </a:ext>
            </a:extLst>
          </p:cNvPr>
          <p:cNvSpPr txBox="1"/>
          <p:nvPr userDrawn="1"/>
        </p:nvSpPr>
        <p:spPr>
          <a:xfrm>
            <a:off x="457219" y="1519201"/>
            <a:ext cx="3456000" cy="1146468"/>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1000" b="0" dirty="0">
                <a:latin typeface="Century Gothic" panose="020B0502020202020204" pitchFamily="34" charset="0"/>
                <a:cs typeface="Arial" panose="020B0604020202020204" pitchFamily="34" charset="0"/>
              </a:rPr>
              <a:t>Emotioneel welbevinden wordt gemeten met 5 vragen (WHO-5), zoals: ‘Voelde je je in de laatste 2 weken actief en vol energie?’</a:t>
            </a:r>
          </a:p>
          <a:p>
            <a:pPr algn="l"/>
            <a:endParaRPr lang="nl-NL" sz="1000" b="0" dirty="0">
              <a:latin typeface="Century Gothic" panose="020B0502020202020204" pitchFamily="34" charset="0"/>
              <a:cs typeface="Arial" panose="020B0604020202020204" pitchFamily="34" charset="0"/>
            </a:endParaRPr>
          </a:p>
          <a:p>
            <a:pPr algn="l"/>
            <a:r>
              <a:rPr lang="nl-NL" sz="1000" b="0" dirty="0">
                <a:latin typeface="Century Gothic" panose="020B0502020202020204" pitchFamily="34" charset="0"/>
                <a:cs typeface="Arial" panose="020B0604020202020204" pitchFamily="34" charset="0"/>
              </a:rPr>
              <a:t>Meisjes ervaren meestal een lager emotioneel welbevinden dan jongens. Ook ervaren meisjes vaker stress dan jongens.</a:t>
            </a:r>
          </a:p>
        </p:txBody>
      </p:sp>
      <p:sp>
        <p:nvSpPr>
          <p:cNvPr id="17" name="TextBox 1">
            <a:extLst>
              <a:ext uri="{FF2B5EF4-FFF2-40B4-BE49-F238E27FC236}">
                <a16:creationId xmlns:a16="http://schemas.microsoft.com/office/drawing/2014/main" id="{83BD08AD-0583-B8D4-FD8D-EC44809BEB33}"/>
              </a:ext>
            </a:extLst>
          </p:cNvPr>
          <p:cNvSpPr txBox="1"/>
          <p:nvPr userDrawn="1"/>
        </p:nvSpPr>
        <p:spPr>
          <a:xfrm>
            <a:off x="8273512" y="1519199"/>
            <a:ext cx="3559183" cy="1608133"/>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algn="l"/>
            <a:r>
              <a:rPr lang="nl-NL" sz="1000" b="0" dirty="0">
                <a:latin typeface="Century Gothic" panose="020B0502020202020204" pitchFamily="34" charset="0"/>
                <a:cs typeface="Arial" panose="020B0604020202020204" pitchFamily="34" charset="0"/>
              </a:rPr>
              <a:t>Weerbaarheid is opkomen voor jezelf en het maken van keuzes. Het helpt jongeren omgaan met stressvolle situaties en beschermt hen tegen mentale problemen en risicogedrag, zoals durven 'nee' te zeggen tegen middelengebruik of grensoverschrijdend gedrag.</a:t>
            </a:r>
          </a:p>
          <a:p>
            <a:pPr algn="l"/>
            <a:endParaRPr lang="nl-NL" sz="1000" b="0" dirty="0">
              <a:latin typeface="Century Gothic" panose="020B0502020202020204" pitchFamily="34" charset="0"/>
              <a:cs typeface="Arial" panose="020B0604020202020204" pitchFamily="34" charset="0"/>
            </a:endParaRPr>
          </a:p>
          <a:p>
            <a:pPr algn="l"/>
            <a:r>
              <a:rPr lang="nl-NL" sz="1000" b="0" dirty="0">
                <a:latin typeface="Century Gothic" panose="020B0502020202020204" pitchFamily="34" charset="0"/>
                <a:cs typeface="Arial" panose="020B0604020202020204" pitchFamily="34" charset="0"/>
              </a:rPr>
              <a:t>Weerbaarheid is gemeten met een set van 5 vragen over sociale druk, opkomen voor jezelf en weten wat je wel of niet wil. Bijvoorbeeld: 'Ik zeg het als iemand iets doet wat ik vervelend vind'. </a:t>
            </a:r>
          </a:p>
        </p:txBody>
      </p:sp>
      <p:sp>
        <p:nvSpPr>
          <p:cNvPr id="21" name="Grafiek weerbaar">
            <a:extLst>
              <a:ext uri="{FF2B5EF4-FFF2-40B4-BE49-F238E27FC236}">
                <a16:creationId xmlns:a16="http://schemas.microsoft.com/office/drawing/2014/main" id="{A1DFC9B8-E1E8-33C7-87FC-C3F346814DBD}"/>
              </a:ext>
            </a:extLst>
          </p:cNvPr>
          <p:cNvSpPr>
            <a:spLocks noGrp="1"/>
          </p:cNvSpPr>
          <p:nvPr>
            <p:ph type="chart" sz="quarter" idx="20"/>
          </p:nvPr>
        </p:nvSpPr>
        <p:spPr>
          <a:xfrm>
            <a:off x="8282285" y="4024800"/>
            <a:ext cx="3456000" cy="2340000"/>
          </a:xfrm>
          <a:prstGeom prst="rect">
            <a:avLst/>
          </a:prstGeom>
        </p:spPr>
        <p:txBody>
          <a:bodyPr/>
          <a:lstStyle>
            <a:lvl1pPr marL="0" indent="0">
              <a:buNone/>
              <a:defRPr sz="3200"/>
            </a:lvl1pPr>
          </a:lstStyle>
          <a:p>
            <a:endParaRPr lang="nl-NL" dirty="0"/>
          </a:p>
        </p:txBody>
      </p:sp>
      <p:sp>
        <p:nvSpPr>
          <p:cNvPr id="23" name="Grafiek stress bronnen">
            <a:extLst>
              <a:ext uri="{FF2B5EF4-FFF2-40B4-BE49-F238E27FC236}">
                <a16:creationId xmlns:a16="http://schemas.microsoft.com/office/drawing/2014/main" id="{14582CEC-4D12-FA6E-3C61-CC5836BB026E}"/>
              </a:ext>
            </a:extLst>
          </p:cNvPr>
          <p:cNvSpPr>
            <a:spLocks noGrp="1"/>
          </p:cNvSpPr>
          <p:nvPr>
            <p:ph type="chart" sz="quarter" idx="19"/>
          </p:nvPr>
        </p:nvSpPr>
        <p:spPr>
          <a:xfrm>
            <a:off x="4365366" y="4024800"/>
            <a:ext cx="3456000" cy="2340000"/>
          </a:xfrm>
          <a:prstGeom prst="rect">
            <a:avLst/>
          </a:prstGeom>
        </p:spPr>
        <p:txBody>
          <a:bodyPr/>
          <a:lstStyle>
            <a:lvl1pPr marL="0" indent="0">
              <a:buNone/>
              <a:defRPr sz="3200"/>
            </a:lvl1pPr>
          </a:lstStyle>
          <a:p>
            <a:endParaRPr lang="nl-NL" dirty="0"/>
          </a:p>
        </p:txBody>
      </p:sp>
      <p:sp>
        <p:nvSpPr>
          <p:cNvPr id="2" name="Grafiek stress">
            <a:extLst>
              <a:ext uri="{FF2B5EF4-FFF2-40B4-BE49-F238E27FC236}">
                <a16:creationId xmlns:a16="http://schemas.microsoft.com/office/drawing/2014/main" id="{3E9BC729-CF02-6A27-68A5-57C2EBB053B6}"/>
              </a:ext>
            </a:extLst>
          </p:cNvPr>
          <p:cNvSpPr>
            <a:spLocks noGrp="1"/>
          </p:cNvSpPr>
          <p:nvPr>
            <p:ph type="chart" sz="quarter" idx="22"/>
          </p:nvPr>
        </p:nvSpPr>
        <p:spPr>
          <a:xfrm>
            <a:off x="4368812" y="1519199"/>
            <a:ext cx="3456000" cy="2340000"/>
          </a:xfrm>
          <a:prstGeom prst="rect">
            <a:avLst/>
          </a:prstGeom>
        </p:spPr>
        <p:txBody>
          <a:bodyPr/>
          <a:lstStyle>
            <a:lvl1pPr marL="0" indent="0">
              <a:buNone/>
              <a:defRPr sz="3200"/>
            </a:lvl1pPr>
          </a:lstStyle>
          <a:p>
            <a:endParaRPr lang="nl-NL" dirty="0"/>
          </a:p>
        </p:txBody>
      </p:sp>
      <p:sp>
        <p:nvSpPr>
          <p:cNvPr id="22" name="Grafiek WHO">
            <a:extLst>
              <a:ext uri="{FF2B5EF4-FFF2-40B4-BE49-F238E27FC236}">
                <a16:creationId xmlns:a16="http://schemas.microsoft.com/office/drawing/2014/main" id="{AEC6019B-E5C6-DD62-B766-72C2710F2BA9}"/>
              </a:ext>
            </a:extLst>
          </p:cNvPr>
          <p:cNvSpPr>
            <a:spLocks noGrp="1"/>
          </p:cNvSpPr>
          <p:nvPr>
            <p:ph type="chart" sz="quarter" idx="21"/>
          </p:nvPr>
        </p:nvSpPr>
        <p:spPr>
          <a:xfrm>
            <a:off x="455539"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4151803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lcohol 1">
    <p:spTree>
      <p:nvGrpSpPr>
        <p:cNvPr id="1" name=""/>
        <p:cNvGrpSpPr/>
        <p:nvPr/>
      </p:nvGrpSpPr>
      <p:grpSpPr>
        <a:xfrm>
          <a:off x="0" y="0"/>
          <a:ext cx="0" cy="0"/>
          <a:chOff x="0" y="0"/>
          <a:chExt cx="0" cy="0"/>
        </a:xfrm>
      </p:grpSpPr>
      <p:sp>
        <p:nvSpPr>
          <p:cNvPr id="7" name="Rectangle 16">
            <a:extLst>
              <a:ext uri="{FF2B5EF4-FFF2-40B4-BE49-F238E27FC236}">
                <a16:creationId xmlns:a16="http://schemas.microsoft.com/office/drawing/2014/main" id="{A53C9265-3CEF-A2C1-7746-C8CDC77B08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Alcohol - 1</a:t>
            </a:r>
            <a:endParaRPr lang="nl-NL" sz="1800" b="1" noProof="0" dirty="0">
              <a:latin typeface="Century Gothic" panose="020B0502020202020204" pitchFamily="34" charset="0"/>
            </a:endParaRPr>
          </a:p>
        </p:txBody>
      </p:sp>
      <p:sp>
        <p:nvSpPr>
          <p:cNvPr id="18" name="Rectangle 16">
            <a:extLst>
              <a:ext uri="{FF2B5EF4-FFF2-40B4-BE49-F238E27FC236}">
                <a16:creationId xmlns:a16="http://schemas.microsoft.com/office/drawing/2014/main" id="{112661DE-D680-93A1-4A83-2511D69CF884}"/>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19" name="Rechte verbindingslijn 18" hidden="1">
            <a:extLst>
              <a:ext uri="{FF2B5EF4-FFF2-40B4-BE49-F238E27FC236}">
                <a16:creationId xmlns:a16="http://schemas.microsoft.com/office/drawing/2014/main" id="{B26D2DF4-EF29-EAE1-E74E-3D6B9793E990}"/>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hidden="1">
            <a:extLst>
              <a:ext uri="{FF2B5EF4-FFF2-40B4-BE49-F238E27FC236}">
                <a16:creationId xmlns:a16="http://schemas.microsoft.com/office/drawing/2014/main" id="{325B1303-81AE-D42F-B53E-B76471ECDE28}"/>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1" name="Rechthoek 20" hidden="1">
            <a:extLst>
              <a:ext uri="{FF2B5EF4-FFF2-40B4-BE49-F238E27FC236}">
                <a16:creationId xmlns:a16="http://schemas.microsoft.com/office/drawing/2014/main" id="{3B5CD72A-F68B-2A1C-F79C-6650DB85ACD4}"/>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Rechthoek 21" hidden="1">
            <a:extLst>
              <a:ext uri="{FF2B5EF4-FFF2-40B4-BE49-F238E27FC236}">
                <a16:creationId xmlns:a16="http://schemas.microsoft.com/office/drawing/2014/main" id="{AC4246E3-31A2-2FEC-87FA-D3E637E18E35}"/>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3" name="Rechthoek 22" hidden="1">
            <a:extLst>
              <a:ext uri="{FF2B5EF4-FFF2-40B4-BE49-F238E27FC236}">
                <a16:creationId xmlns:a16="http://schemas.microsoft.com/office/drawing/2014/main" id="{987BFB7C-A932-5A72-F105-CC62C8B6CF7C}"/>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3" name="Tekst alcohol">
            <a:extLst>
              <a:ext uri="{FF2B5EF4-FFF2-40B4-BE49-F238E27FC236}">
                <a16:creationId xmlns:a16="http://schemas.microsoft.com/office/drawing/2014/main" id="{FFC755C8-10C8-9F86-DCD8-6BB57DFFE2DA}"/>
              </a:ext>
            </a:extLst>
          </p:cNvPr>
          <p:cNvSpPr txBox="1"/>
          <p:nvPr userDrawn="1"/>
        </p:nvSpPr>
        <p:spPr>
          <a:xfrm>
            <a:off x="457219" y="1519201"/>
            <a:ext cx="11277562" cy="1015663"/>
          </a:xfrm>
          <a:prstGeom prst="rect">
            <a:avLst/>
          </a:prstGeom>
          <a:noFill/>
        </p:spPr>
        <p:txBody>
          <a:bodyPr wrap="square">
            <a:spAutoFit/>
          </a:bodyPr>
          <a:lstStyle/>
          <a:p>
            <a:r>
              <a:rPr lang="nl-NL" sz="1000" dirty="0">
                <a:solidFill>
                  <a:schemeClr val="tx1"/>
                </a:solidFill>
                <a:latin typeface="Century Gothic" panose="020B0502020202020204" pitchFamily="34" charset="0"/>
              </a:rPr>
              <a:t>De hersenen van jongeren zijn nog volop in ontwikkeling en er zijn aanwijzingen dat alcohol deze ontwikkeling kan verstoren. Hierdoor kunnen jongeren problemen krijgen, zoals concentratiestoornissen en geheugen problemen. Jongeren die alcohol drinken vertonen vaker ongeremd, agressief of asociaal gedrag en hebben een grotere kans op verslaving op latere leeftijd.</a:t>
            </a:r>
          </a:p>
          <a:p>
            <a:endParaRPr lang="nl-NL" sz="1000" dirty="0">
              <a:solidFill>
                <a:schemeClr val="tx1"/>
              </a:solidFill>
              <a:latin typeface="Century Gothic" panose="020B0502020202020204" pitchFamily="34" charset="0"/>
            </a:endParaRPr>
          </a:p>
          <a:p>
            <a:r>
              <a:rPr lang="nl-NL" sz="1000" dirty="0">
                <a:solidFill>
                  <a:schemeClr val="tx1"/>
                </a:solidFill>
                <a:latin typeface="Century Gothic" panose="020B0502020202020204" pitchFamily="34" charset="0"/>
              </a:rPr>
              <a:t>Het alcoholgebruik van jongeren neemt toe met de leeftijd. De verschillen in alcoholgebruik tussen jongens en meisjes zijn kleiner dan de verschillen tussen klas 2 en klas 4. De cijfers hieronder gaan over jongeren die </a:t>
            </a:r>
            <a:r>
              <a:rPr lang="nl-NL" sz="1000" u="none" dirty="0">
                <a:solidFill>
                  <a:schemeClr val="tx1"/>
                </a:solidFill>
                <a:latin typeface="Century Gothic" panose="020B0502020202020204" pitchFamily="34" charset="0"/>
              </a:rPr>
              <a:t>in de laatste 4 weken minimaal één glas alcohol </a:t>
            </a:r>
            <a:r>
              <a:rPr lang="nl-NL" sz="1000" dirty="0">
                <a:solidFill>
                  <a:schemeClr val="tx1"/>
                </a:solidFill>
                <a:latin typeface="Century Gothic" panose="020B0502020202020204" pitchFamily="34" charset="0"/>
              </a:rPr>
              <a:t>hebben gedronken.</a:t>
            </a:r>
          </a:p>
        </p:txBody>
      </p:sp>
      <p:sp>
        <p:nvSpPr>
          <p:cNvPr id="6" name="Tekstvak 5">
            <a:extLst>
              <a:ext uri="{FF2B5EF4-FFF2-40B4-BE49-F238E27FC236}">
                <a16:creationId xmlns:a16="http://schemas.microsoft.com/office/drawing/2014/main" id="{4EAC207B-BCCF-77A4-81E3-986E436F98C2}"/>
              </a:ext>
            </a:extLst>
          </p:cNvPr>
          <p:cNvSpPr txBox="1"/>
          <p:nvPr userDrawn="1"/>
        </p:nvSpPr>
        <p:spPr>
          <a:xfrm>
            <a:off x="1780720" y="3505916"/>
            <a:ext cx="1898309"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heeft alcohol gedronken in de laatste 4 weken</a:t>
            </a:r>
          </a:p>
        </p:txBody>
      </p:sp>
      <p:sp>
        <p:nvSpPr>
          <p:cNvPr id="27" name="Tekstvak 26">
            <a:extLst>
              <a:ext uri="{FF2B5EF4-FFF2-40B4-BE49-F238E27FC236}">
                <a16:creationId xmlns:a16="http://schemas.microsoft.com/office/drawing/2014/main" id="{518AEBD8-0E60-31D4-1F3F-56FA548C5E98}"/>
              </a:ext>
            </a:extLst>
          </p:cNvPr>
          <p:cNvSpPr txBox="1"/>
          <p:nvPr userDrawn="1"/>
        </p:nvSpPr>
        <p:spPr>
          <a:xfrm>
            <a:off x="1780721" y="5473778"/>
            <a:ext cx="1791102"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is dronken geweest in de laatste 4 weken</a:t>
            </a:r>
          </a:p>
        </p:txBody>
      </p:sp>
      <p:sp>
        <p:nvSpPr>
          <p:cNvPr id="29" name="Tekstvak 28">
            <a:extLst>
              <a:ext uri="{FF2B5EF4-FFF2-40B4-BE49-F238E27FC236}">
                <a16:creationId xmlns:a16="http://schemas.microsoft.com/office/drawing/2014/main" id="{56270841-FB69-318B-9A0B-1A98D5DC2003}"/>
              </a:ext>
            </a:extLst>
          </p:cNvPr>
          <p:cNvSpPr txBox="1"/>
          <p:nvPr userDrawn="1"/>
        </p:nvSpPr>
        <p:spPr>
          <a:xfrm>
            <a:off x="1780720" y="4489847"/>
            <a:ext cx="1898308"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heeft binge gedronken in de laatste 4 weken</a:t>
            </a:r>
          </a:p>
        </p:txBody>
      </p:sp>
      <p:sp>
        <p:nvSpPr>
          <p:cNvPr id="11" name="Grafiek alcohol geslacht">
            <a:extLst>
              <a:ext uri="{FF2B5EF4-FFF2-40B4-BE49-F238E27FC236}">
                <a16:creationId xmlns:a16="http://schemas.microsoft.com/office/drawing/2014/main" id="{F0CB5567-386A-4DA2-C427-0524B8C0F141}"/>
              </a:ext>
            </a:extLst>
          </p:cNvPr>
          <p:cNvSpPr>
            <a:spLocks noGrp="1"/>
          </p:cNvSpPr>
          <p:nvPr>
            <p:ph type="chart" sz="quarter" idx="18"/>
          </p:nvPr>
        </p:nvSpPr>
        <p:spPr>
          <a:xfrm>
            <a:off x="8279651" y="3476100"/>
            <a:ext cx="3456000" cy="2340000"/>
          </a:xfrm>
          <a:prstGeom prst="rect">
            <a:avLst/>
          </a:prstGeom>
        </p:spPr>
        <p:txBody>
          <a:bodyPr/>
          <a:lstStyle>
            <a:lvl1pPr marL="0" indent="0">
              <a:buNone/>
              <a:defRPr sz="3200"/>
            </a:lvl1pPr>
          </a:lstStyle>
          <a:p>
            <a:endParaRPr lang="nl-NL" dirty="0"/>
          </a:p>
        </p:txBody>
      </p:sp>
      <p:sp>
        <p:nvSpPr>
          <p:cNvPr id="8" name="Grafiek alcohol klas">
            <a:extLst>
              <a:ext uri="{FF2B5EF4-FFF2-40B4-BE49-F238E27FC236}">
                <a16:creationId xmlns:a16="http://schemas.microsoft.com/office/drawing/2014/main" id="{D20EC947-3C86-DA80-4BD4-31DAF91090C6}"/>
              </a:ext>
            </a:extLst>
          </p:cNvPr>
          <p:cNvSpPr>
            <a:spLocks noGrp="1"/>
          </p:cNvSpPr>
          <p:nvPr>
            <p:ph type="chart" sz="quarter" idx="15"/>
          </p:nvPr>
        </p:nvSpPr>
        <p:spPr>
          <a:xfrm>
            <a:off x="4367132" y="3476100"/>
            <a:ext cx="3456000" cy="2340000"/>
          </a:xfrm>
          <a:prstGeom prst="rect">
            <a:avLst/>
          </a:prstGeom>
        </p:spPr>
        <p:txBody>
          <a:bodyPr/>
          <a:lstStyle>
            <a:lvl1pPr marL="0" indent="0">
              <a:buNone/>
              <a:defRPr sz="3200"/>
            </a:lvl1pPr>
          </a:lstStyle>
          <a:p>
            <a:endParaRPr lang="nl-NL" dirty="0"/>
          </a:p>
        </p:txBody>
      </p:sp>
      <p:sp>
        <p:nvSpPr>
          <p:cNvPr id="28" name="Percentage dronkenschap">
            <a:extLst>
              <a:ext uri="{FF2B5EF4-FFF2-40B4-BE49-F238E27FC236}">
                <a16:creationId xmlns:a16="http://schemas.microsoft.com/office/drawing/2014/main" id="{A7CD9EDF-AED6-C9BC-4A93-D6AA242102FD}"/>
              </a:ext>
            </a:extLst>
          </p:cNvPr>
          <p:cNvSpPr>
            <a:spLocks noGrp="1"/>
          </p:cNvSpPr>
          <p:nvPr>
            <p:ph type="body" sz="quarter" idx="13" hasCustomPrompt="1"/>
          </p:nvPr>
        </p:nvSpPr>
        <p:spPr>
          <a:xfrm>
            <a:off x="942521" y="5262427"/>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0" name="Percentage binge">
            <a:extLst>
              <a:ext uri="{FF2B5EF4-FFF2-40B4-BE49-F238E27FC236}">
                <a16:creationId xmlns:a16="http://schemas.microsoft.com/office/drawing/2014/main" id="{7B5F9B36-1912-2A1B-C6CD-7845EC02F10D}"/>
              </a:ext>
            </a:extLst>
          </p:cNvPr>
          <p:cNvSpPr>
            <a:spLocks noGrp="1"/>
          </p:cNvSpPr>
          <p:nvPr>
            <p:ph type="body" sz="quarter" idx="20" hasCustomPrompt="1"/>
          </p:nvPr>
        </p:nvSpPr>
        <p:spPr>
          <a:xfrm>
            <a:off x="942521" y="4278496"/>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10" name="Percentage alcohol">
            <a:extLst>
              <a:ext uri="{FF2B5EF4-FFF2-40B4-BE49-F238E27FC236}">
                <a16:creationId xmlns:a16="http://schemas.microsoft.com/office/drawing/2014/main" id="{19390185-DCC0-5207-9976-897E1E8D339C}"/>
              </a:ext>
            </a:extLst>
          </p:cNvPr>
          <p:cNvSpPr>
            <a:spLocks noGrp="1"/>
          </p:cNvSpPr>
          <p:nvPr>
            <p:ph type="body" sz="quarter" idx="19" hasCustomPrompt="1"/>
          </p:nvPr>
        </p:nvSpPr>
        <p:spPr>
          <a:xfrm>
            <a:off x="942521" y="3294565"/>
            <a:ext cx="838200" cy="838200"/>
          </a:xfrm>
          <a:prstGeom prst="ellipse">
            <a:avLst/>
          </a:prstGeom>
          <a:solidFill>
            <a:schemeClr val="accent3"/>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27414404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cohol 2">
    <p:spTree>
      <p:nvGrpSpPr>
        <p:cNvPr id="1" name=""/>
        <p:cNvGrpSpPr/>
        <p:nvPr/>
      </p:nvGrpSpPr>
      <p:grpSpPr>
        <a:xfrm>
          <a:off x="0" y="0"/>
          <a:ext cx="0" cy="0"/>
          <a:chOff x="0" y="0"/>
          <a:chExt cx="0" cy="0"/>
        </a:xfrm>
      </p:grpSpPr>
      <p:sp>
        <p:nvSpPr>
          <p:cNvPr id="7" name="Rectangle 16">
            <a:extLst>
              <a:ext uri="{FF2B5EF4-FFF2-40B4-BE49-F238E27FC236}">
                <a16:creationId xmlns:a16="http://schemas.microsoft.com/office/drawing/2014/main" id="{A53C9265-3CEF-A2C1-7746-C8CDC77B0852}"/>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Alcohol - 2</a:t>
            </a:r>
            <a:endParaRPr lang="nl-NL" sz="1800" b="1" noProof="0" dirty="0">
              <a:latin typeface="Century Gothic" panose="020B0502020202020204" pitchFamily="34" charset="0"/>
            </a:endParaRPr>
          </a:p>
        </p:txBody>
      </p:sp>
      <p:sp>
        <p:nvSpPr>
          <p:cNvPr id="18" name="Rectangle 16">
            <a:extLst>
              <a:ext uri="{FF2B5EF4-FFF2-40B4-BE49-F238E27FC236}">
                <a16:creationId xmlns:a16="http://schemas.microsoft.com/office/drawing/2014/main" id="{112661DE-D680-93A1-4A83-2511D69CF884}"/>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19" name="Rechte verbindingslijn 18" hidden="1">
            <a:extLst>
              <a:ext uri="{FF2B5EF4-FFF2-40B4-BE49-F238E27FC236}">
                <a16:creationId xmlns:a16="http://schemas.microsoft.com/office/drawing/2014/main" id="{B26D2DF4-EF29-EAE1-E74E-3D6B9793E990}"/>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a:extLst>
              <a:ext uri="{FF2B5EF4-FFF2-40B4-BE49-F238E27FC236}">
                <a16:creationId xmlns:a16="http://schemas.microsoft.com/office/drawing/2014/main" id="{325B1303-81AE-D42F-B53E-B76471ECDE28}"/>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1" name="Rechthoek 20" hidden="1">
            <a:extLst>
              <a:ext uri="{FF2B5EF4-FFF2-40B4-BE49-F238E27FC236}">
                <a16:creationId xmlns:a16="http://schemas.microsoft.com/office/drawing/2014/main" id="{3B5CD72A-F68B-2A1C-F79C-6650DB85ACD4}"/>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Rechthoek 21" hidden="1">
            <a:extLst>
              <a:ext uri="{FF2B5EF4-FFF2-40B4-BE49-F238E27FC236}">
                <a16:creationId xmlns:a16="http://schemas.microsoft.com/office/drawing/2014/main" id="{AC4246E3-31A2-2FEC-87FA-D3E637E18E35}"/>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3" name="Rechthoek 22" hidden="1">
            <a:extLst>
              <a:ext uri="{FF2B5EF4-FFF2-40B4-BE49-F238E27FC236}">
                <a16:creationId xmlns:a16="http://schemas.microsoft.com/office/drawing/2014/main" id="{987BFB7C-A932-5A72-F105-CC62C8B6CF7C}"/>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 name="Grafiek alcohol oorsprong">
            <a:extLst>
              <a:ext uri="{FF2B5EF4-FFF2-40B4-BE49-F238E27FC236}">
                <a16:creationId xmlns:a16="http://schemas.microsoft.com/office/drawing/2014/main" id="{5B025D78-5D1C-4DB1-10FC-67D4F0244B2C}"/>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3200"/>
            </a:lvl1pPr>
          </a:lstStyle>
          <a:p>
            <a:endParaRPr lang="nl-NL" dirty="0"/>
          </a:p>
        </p:txBody>
      </p:sp>
      <p:sp>
        <p:nvSpPr>
          <p:cNvPr id="3" name="Grafiek alcohol locatie">
            <a:extLst>
              <a:ext uri="{FF2B5EF4-FFF2-40B4-BE49-F238E27FC236}">
                <a16:creationId xmlns:a16="http://schemas.microsoft.com/office/drawing/2014/main" id="{FF07A88D-B096-5345-248E-6AB6B2531B51}"/>
              </a:ext>
            </a:extLst>
          </p:cNvPr>
          <p:cNvSpPr>
            <a:spLocks noGrp="1"/>
          </p:cNvSpPr>
          <p:nvPr>
            <p:ph type="chart" sz="quarter" idx="19"/>
          </p:nvPr>
        </p:nvSpPr>
        <p:spPr>
          <a:xfrm>
            <a:off x="8278781" y="1519200"/>
            <a:ext cx="3456000" cy="2340000"/>
          </a:xfrm>
          <a:prstGeom prst="rect">
            <a:avLst/>
          </a:prstGeom>
        </p:spPr>
        <p:txBody>
          <a:bodyPr/>
          <a:lstStyle>
            <a:lvl1pPr marL="0" indent="0">
              <a:buNone/>
              <a:defRPr sz="3200"/>
            </a:lvl1pPr>
          </a:lstStyle>
          <a:p>
            <a:endParaRPr lang="nl-NL" dirty="0"/>
          </a:p>
        </p:txBody>
      </p:sp>
      <p:sp>
        <p:nvSpPr>
          <p:cNvPr id="5" name="Grafiek mening ouders geen alcohol">
            <a:extLst>
              <a:ext uri="{FF2B5EF4-FFF2-40B4-BE49-F238E27FC236}">
                <a16:creationId xmlns:a16="http://schemas.microsoft.com/office/drawing/2014/main" id="{7C6D467A-5799-9402-B402-F4834EAC4D6A}"/>
              </a:ext>
            </a:extLst>
          </p:cNvPr>
          <p:cNvSpPr>
            <a:spLocks noGrp="1"/>
          </p:cNvSpPr>
          <p:nvPr>
            <p:ph type="chart" sz="quarter" idx="22"/>
          </p:nvPr>
        </p:nvSpPr>
        <p:spPr>
          <a:xfrm>
            <a:off x="4368000" y="2408829"/>
            <a:ext cx="3456000" cy="3960000"/>
          </a:xfrm>
          <a:prstGeom prst="rect">
            <a:avLst/>
          </a:prstGeom>
        </p:spPr>
        <p:txBody>
          <a:bodyPr/>
          <a:lstStyle>
            <a:lvl1pPr marL="0" indent="0">
              <a:buNone/>
              <a:defRPr sz="3200"/>
            </a:lvl1pPr>
          </a:lstStyle>
          <a:p>
            <a:endParaRPr lang="nl-NL" dirty="0"/>
          </a:p>
        </p:txBody>
      </p:sp>
      <p:sp>
        <p:nvSpPr>
          <p:cNvPr id="4" name="Grafiek mening ouders alcohol">
            <a:extLst>
              <a:ext uri="{FF2B5EF4-FFF2-40B4-BE49-F238E27FC236}">
                <a16:creationId xmlns:a16="http://schemas.microsoft.com/office/drawing/2014/main" id="{3E07DD97-A27C-5F5F-D1D5-3FB81C6DC42D}"/>
              </a:ext>
            </a:extLst>
          </p:cNvPr>
          <p:cNvSpPr>
            <a:spLocks noGrp="1"/>
          </p:cNvSpPr>
          <p:nvPr>
            <p:ph type="chart" sz="quarter" idx="14"/>
          </p:nvPr>
        </p:nvSpPr>
        <p:spPr>
          <a:xfrm>
            <a:off x="578257" y="2408829"/>
            <a:ext cx="3456000" cy="3960000"/>
          </a:xfrm>
          <a:prstGeom prst="rect">
            <a:avLst/>
          </a:prstGeom>
        </p:spPr>
        <p:txBody>
          <a:bodyPr/>
          <a:lstStyle>
            <a:lvl1pPr marL="0" indent="0">
              <a:buNone/>
              <a:defRPr sz="3200"/>
            </a:lvl1pPr>
          </a:lstStyle>
          <a:p>
            <a:endParaRPr lang="nl-NL" dirty="0"/>
          </a:p>
        </p:txBody>
      </p:sp>
      <p:sp>
        <p:nvSpPr>
          <p:cNvPr id="8" name="Tekst alcohol">
            <a:extLst>
              <a:ext uri="{FF2B5EF4-FFF2-40B4-BE49-F238E27FC236}">
                <a16:creationId xmlns:a16="http://schemas.microsoft.com/office/drawing/2014/main" id="{3C8F669A-71CF-F754-4D64-9D86B65DA924}"/>
              </a:ext>
            </a:extLst>
          </p:cNvPr>
          <p:cNvSpPr>
            <a:spLocks noGrp="1"/>
          </p:cNvSpPr>
          <p:nvPr>
            <p:ph type="body" sz="quarter" idx="21" hasCustomPrompt="1"/>
          </p:nvPr>
        </p:nvSpPr>
        <p:spPr>
          <a:xfrm>
            <a:off x="578257" y="1519200"/>
            <a:ext cx="7244980"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lvl1pPr marL="0" indent="0" defTabSz="839852">
              <a:buNone/>
              <a:defRPr lang="nl-NL" sz="1000" b="0" smtClean="0">
                <a:latin typeface="Century Gothic" panose="020B0502020202020204" pitchFamily="34" charset="0"/>
                <a:cs typeface="Arial" panose="020B0604020202020204" pitchFamily="34" charset="0"/>
              </a:defRPr>
            </a:lvl1pPr>
            <a:lvl2pPr>
              <a:defRPr lang="nl-NL" sz="1653" smtClean="0">
                <a:latin typeface="+mn-lt"/>
              </a:defRPr>
            </a:lvl2pPr>
            <a:lvl3pPr>
              <a:defRPr lang="nl-NL" sz="1653" smtClean="0">
                <a:latin typeface="+mn-lt"/>
              </a:defRPr>
            </a:lvl3pPr>
            <a:lvl4pPr>
              <a:defRPr lang="nl-NL" sz="1653" smtClean="0">
                <a:latin typeface="+mn-lt"/>
              </a:defRPr>
            </a:lvl4pPr>
            <a:lvl5pPr>
              <a:defRPr lang="nl-NL" sz="1653">
                <a:latin typeface="+mn-lt"/>
              </a:defRPr>
            </a:lvl5pPr>
          </a:lstStyle>
          <a:p>
            <a:pPr marL="0" lvl="0" defTabSz="839852"/>
            <a:r>
              <a:rPr lang="nl-NL" dirty="0"/>
              <a:t>De houding van ouders ten opzichte van alcohol hangt samen met het alcoholgebruik van jongeren. Van de jongeren die geen (of alleen een slokje) alcohol drinken geeft xx% aan dat hun ouders het goed zouden vinden als ze toch alcohol zouden drinken. Van de jongeren die alcohol drinken geeft xx% aan dat hun ouders alcohol drinken goed vinden.</a:t>
            </a:r>
          </a:p>
        </p:txBody>
      </p:sp>
    </p:spTree>
    <p:extLst>
      <p:ext uri="{BB962C8B-B14F-4D97-AF65-F5344CB8AC3E}">
        <p14:creationId xmlns:p14="http://schemas.microsoft.com/office/powerpoint/2010/main" val="2055947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oken, vapen en drugs">
    <p:spTree>
      <p:nvGrpSpPr>
        <p:cNvPr id="1" name=""/>
        <p:cNvGrpSpPr/>
        <p:nvPr/>
      </p:nvGrpSpPr>
      <p:grpSpPr>
        <a:xfrm>
          <a:off x="0" y="0"/>
          <a:ext cx="0" cy="0"/>
          <a:chOff x="0" y="0"/>
          <a:chExt cx="0" cy="0"/>
        </a:xfrm>
      </p:grpSpPr>
      <p:sp>
        <p:nvSpPr>
          <p:cNvPr id="19" name="Middenvlak" hidden="1">
            <a:extLst>
              <a:ext uri="{FF2B5EF4-FFF2-40B4-BE49-F238E27FC236}">
                <a16:creationId xmlns:a16="http://schemas.microsoft.com/office/drawing/2014/main" id="{7B968F48-4AE4-98F5-0C6C-725EDB23EBAB}"/>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cxnSp>
        <p:nvCxnSpPr>
          <p:cNvPr id="8" name="Rechter scheidingslijn">
            <a:extLst>
              <a:ext uri="{FF2B5EF4-FFF2-40B4-BE49-F238E27FC236}">
                <a16:creationId xmlns:a16="http://schemas.microsoft.com/office/drawing/2014/main" id="{FFC82515-DC39-05D9-8E2C-020ADB1E7424}"/>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1" name="Linker scheidingslijn">
            <a:extLst>
              <a:ext uri="{FF2B5EF4-FFF2-40B4-BE49-F238E27FC236}">
                <a16:creationId xmlns:a16="http://schemas.microsoft.com/office/drawing/2014/main" id="{1FDD3BA3-06B9-C657-2644-AA42465D31D5}"/>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2" name="Rechtervlak" hidden="1">
            <a:extLst>
              <a:ext uri="{FF2B5EF4-FFF2-40B4-BE49-F238E27FC236}">
                <a16:creationId xmlns:a16="http://schemas.microsoft.com/office/drawing/2014/main" id="{1D7DE066-62EA-2FBB-4AA8-E7B1593E9538}"/>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Linkervlak" hidden="1">
            <a:extLst>
              <a:ext uri="{FF2B5EF4-FFF2-40B4-BE49-F238E27FC236}">
                <a16:creationId xmlns:a16="http://schemas.microsoft.com/office/drawing/2014/main" id="{DFA1B2BC-C81F-380F-18FA-AF03643B636F}"/>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5" name="Driehoek">
            <a:extLst>
              <a:ext uri="{FF2B5EF4-FFF2-40B4-BE49-F238E27FC236}">
                <a16:creationId xmlns:a16="http://schemas.microsoft.com/office/drawing/2014/main" id="{DACF651C-D8F7-D583-394C-73C6F28132A7}"/>
              </a:ext>
            </a:extLst>
          </p:cNvPr>
          <p:cNvSpPr/>
          <p:nvPr userDrawn="1"/>
        </p:nvSpPr>
        <p:spPr>
          <a:xfrm rot="10800000" flipH="1">
            <a:off x="9719595" y="0"/>
            <a:ext cx="576000" cy="1066800"/>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30" name="Titelblok">
            <a:extLst>
              <a:ext uri="{FF2B5EF4-FFF2-40B4-BE49-F238E27FC236}">
                <a16:creationId xmlns:a16="http://schemas.microsoft.com/office/drawing/2014/main" id="{A699BCD5-2F2D-8F58-9367-4D74F76B2D2F}"/>
              </a:ext>
            </a:extLst>
          </p:cNvPr>
          <p:cNvSpPr/>
          <p:nvPr userDrawn="1"/>
        </p:nvSpPr>
        <p:spPr>
          <a:xfrm>
            <a:off x="0" y="0"/>
            <a:ext cx="9719589" cy="1066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Roken, vapen en drugs - 1</a:t>
            </a:r>
          </a:p>
        </p:txBody>
      </p:sp>
      <p:sp>
        <p:nvSpPr>
          <p:cNvPr id="21" name="Tekstvak 20">
            <a:extLst>
              <a:ext uri="{FF2B5EF4-FFF2-40B4-BE49-F238E27FC236}">
                <a16:creationId xmlns:a16="http://schemas.microsoft.com/office/drawing/2014/main" id="{2E750E47-DA83-6F0C-AEA2-9DAC1FC64330}"/>
              </a:ext>
            </a:extLst>
          </p:cNvPr>
          <p:cNvSpPr txBox="1"/>
          <p:nvPr userDrawn="1"/>
        </p:nvSpPr>
        <p:spPr>
          <a:xfrm>
            <a:off x="444476" y="1519200"/>
            <a:ext cx="3454375" cy="707886"/>
          </a:xfrm>
          <a:prstGeom prst="rect">
            <a:avLst/>
          </a:prstGeom>
          <a:noFill/>
        </p:spPr>
        <p:txBody>
          <a:bodyPr wrap="square">
            <a:spAutoFit/>
          </a:bodyPr>
          <a:lstStyle/>
          <a:p>
            <a:pPr marL="0" indent="0">
              <a:buNone/>
            </a:pPr>
            <a:r>
              <a:rPr lang="nl-NL" sz="1000" dirty="0">
                <a:latin typeface="Century Gothic" panose="020B0502020202020204" pitchFamily="34" charset="0"/>
              </a:rPr>
              <a:t>Als je op jonge leeftijd begint met roken, is de verslaving vaak sterker en is de kans op succesvol stoppen kleiner dan wanneer je op latere leeftijd begint met roken.</a:t>
            </a:r>
          </a:p>
        </p:txBody>
      </p:sp>
      <p:sp>
        <p:nvSpPr>
          <p:cNvPr id="28" name="Grafiek drugs">
            <a:extLst>
              <a:ext uri="{FF2B5EF4-FFF2-40B4-BE49-F238E27FC236}">
                <a16:creationId xmlns:a16="http://schemas.microsoft.com/office/drawing/2014/main" id="{6ADD03D5-1C37-1E0C-4E42-960808D93124}"/>
              </a:ext>
            </a:extLst>
          </p:cNvPr>
          <p:cNvSpPr>
            <a:spLocks noGrp="1"/>
          </p:cNvSpPr>
          <p:nvPr>
            <p:ph type="chart" sz="quarter" idx="20"/>
          </p:nvPr>
        </p:nvSpPr>
        <p:spPr>
          <a:xfrm>
            <a:off x="8280407" y="4024800"/>
            <a:ext cx="3456000" cy="2340000"/>
          </a:xfrm>
          <a:prstGeom prst="rect">
            <a:avLst/>
          </a:prstGeom>
        </p:spPr>
        <p:txBody>
          <a:bodyPr/>
          <a:lstStyle>
            <a:lvl1pPr marL="0" indent="0">
              <a:buNone/>
              <a:defRPr sz="3200"/>
            </a:lvl1pPr>
          </a:lstStyle>
          <a:p>
            <a:endParaRPr lang="nl-NL" dirty="0"/>
          </a:p>
        </p:txBody>
      </p:sp>
      <p:sp>
        <p:nvSpPr>
          <p:cNvPr id="27" name="Grafiek wiet">
            <a:extLst>
              <a:ext uri="{FF2B5EF4-FFF2-40B4-BE49-F238E27FC236}">
                <a16:creationId xmlns:a16="http://schemas.microsoft.com/office/drawing/2014/main" id="{A4305FD8-CD4E-6B02-BC32-6D3613367F90}"/>
              </a:ext>
            </a:extLst>
          </p:cNvPr>
          <p:cNvSpPr>
            <a:spLocks noGrp="1"/>
          </p:cNvSpPr>
          <p:nvPr>
            <p:ph type="chart" sz="quarter" idx="19"/>
          </p:nvPr>
        </p:nvSpPr>
        <p:spPr>
          <a:xfrm>
            <a:off x="8278781" y="1519200"/>
            <a:ext cx="3456000" cy="2340000"/>
          </a:xfrm>
          <a:prstGeom prst="rect">
            <a:avLst/>
          </a:prstGeom>
        </p:spPr>
        <p:txBody>
          <a:bodyPr/>
          <a:lstStyle>
            <a:lvl1pPr marL="0" indent="0">
              <a:buNone/>
              <a:defRPr sz="3200"/>
            </a:lvl1pPr>
          </a:lstStyle>
          <a:p>
            <a:endParaRPr lang="nl-NL" dirty="0"/>
          </a:p>
        </p:txBody>
      </p:sp>
      <p:sp>
        <p:nvSpPr>
          <p:cNvPr id="9" name="Grafiek roken en vapen">
            <a:extLst>
              <a:ext uri="{FF2B5EF4-FFF2-40B4-BE49-F238E27FC236}">
                <a16:creationId xmlns:a16="http://schemas.microsoft.com/office/drawing/2014/main" id="{D49DC992-DF28-3243-BCAF-54A3259D705E}"/>
              </a:ext>
            </a:extLst>
          </p:cNvPr>
          <p:cNvSpPr>
            <a:spLocks noGrp="1"/>
          </p:cNvSpPr>
          <p:nvPr>
            <p:ph type="chart" sz="quarter" idx="14"/>
          </p:nvPr>
        </p:nvSpPr>
        <p:spPr>
          <a:xfrm>
            <a:off x="4370400" y="1519200"/>
            <a:ext cx="3456000" cy="4845600"/>
          </a:xfrm>
          <a:prstGeom prst="rect">
            <a:avLst/>
          </a:prstGeom>
        </p:spPr>
        <p:txBody>
          <a:bodyPr/>
          <a:lstStyle>
            <a:lvl1pPr marL="0" indent="0">
              <a:buNone/>
              <a:defRPr sz="3200"/>
            </a:lvl1pPr>
          </a:lstStyle>
          <a:p>
            <a:endParaRPr lang="nl-NL" dirty="0"/>
          </a:p>
        </p:txBody>
      </p:sp>
      <p:sp>
        <p:nvSpPr>
          <p:cNvPr id="20" name="Tekst wiet">
            <a:extLst>
              <a:ext uri="{FF2B5EF4-FFF2-40B4-BE49-F238E27FC236}">
                <a16:creationId xmlns:a16="http://schemas.microsoft.com/office/drawing/2014/main" id="{3081CE40-B3B6-688C-D643-661ED516F48D}"/>
              </a:ext>
            </a:extLst>
          </p:cNvPr>
          <p:cNvSpPr>
            <a:spLocks noGrp="1"/>
          </p:cNvSpPr>
          <p:nvPr>
            <p:ph type="body" sz="quarter" idx="22" hasCustomPrompt="1"/>
          </p:nvPr>
        </p:nvSpPr>
        <p:spPr>
          <a:xfrm>
            <a:off x="455577" y="3859200"/>
            <a:ext cx="3432175" cy="1083627"/>
          </a:xfrm>
          <a:prstGeom prst="rect">
            <a:avLst/>
          </a:prstGeom>
        </p:spPr>
        <p:txBody>
          <a:bodyPr/>
          <a:lstStyle>
            <a:lvl1pPr marL="0" marR="0" indent="0" algn="l" defTabSz="1004316" rtl="0" eaLnBrk="1" fontAlgn="auto" latinLnBrk="0" hangingPunct="1">
              <a:lnSpc>
                <a:spcPct val="100000"/>
              </a:lnSpc>
              <a:spcBef>
                <a:spcPct val="20000"/>
              </a:spcBef>
              <a:spcAft>
                <a:spcPts val="0"/>
              </a:spcAft>
              <a:buClrTx/>
              <a:buSzTx/>
              <a:buFont typeface="Arial" panose="020B0604020202020204" pitchFamily="34" charset="0"/>
              <a:buNone/>
              <a:tabLst/>
              <a:defRPr lang="nl-NL" sz="1000" kern="1200" dirty="0">
                <a:solidFill>
                  <a:schemeClr val="tx1"/>
                </a:solidFill>
                <a:latin typeface="Century Gothic" panose="020B0502020202020204" pitchFamily="34" charset="0"/>
                <a:ea typeface="+mn-ea"/>
                <a:cs typeface="+mn-cs"/>
              </a:defRPr>
            </a:lvl1pPr>
          </a:lstStyle>
          <a:p>
            <a:pPr marL="0" indent="0">
              <a:buNone/>
            </a:pPr>
            <a:r>
              <a:rPr lang="nl-NL" sz="1050" dirty="0">
                <a:latin typeface="Century Gothic"/>
              </a:rPr>
              <a:t>INDICATORNAAM van de jongeren heeft ooit wiet of hasj gebruikt. Het percentage dat in de laatste 4 weken wiet of hasj gebruikt heeft is INDICATORNAAM.</a:t>
            </a:r>
          </a:p>
          <a:p>
            <a:pPr lvl="0"/>
            <a:endParaRPr lang="nl-NL" dirty="0"/>
          </a:p>
        </p:txBody>
      </p:sp>
      <p:sp>
        <p:nvSpPr>
          <p:cNvPr id="17" name="Tekst rookt">
            <a:extLst>
              <a:ext uri="{FF2B5EF4-FFF2-40B4-BE49-F238E27FC236}">
                <a16:creationId xmlns:a16="http://schemas.microsoft.com/office/drawing/2014/main" id="{9BB46322-8DFF-4362-8550-431F34EA50EA}"/>
              </a:ext>
            </a:extLst>
          </p:cNvPr>
          <p:cNvSpPr>
            <a:spLocks noGrp="1"/>
          </p:cNvSpPr>
          <p:nvPr>
            <p:ph type="body" sz="quarter" idx="21" hasCustomPrompt="1"/>
          </p:nvPr>
        </p:nvSpPr>
        <p:spPr>
          <a:xfrm>
            <a:off x="455578" y="2456986"/>
            <a:ext cx="3432175" cy="1083627"/>
          </a:xfrm>
          <a:prstGeom prst="rect">
            <a:avLst/>
          </a:prstGeom>
        </p:spPr>
        <p:txBody>
          <a:bodyPr/>
          <a:lstStyle>
            <a:lvl1pPr marL="0" marR="0" indent="0" algn="l" defTabSz="1004316" rtl="0" eaLnBrk="1" fontAlgn="auto" latinLnBrk="0" hangingPunct="1">
              <a:lnSpc>
                <a:spcPct val="100000"/>
              </a:lnSpc>
              <a:spcBef>
                <a:spcPct val="20000"/>
              </a:spcBef>
              <a:spcAft>
                <a:spcPts val="0"/>
              </a:spcAft>
              <a:buClrTx/>
              <a:buSzTx/>
              <a:buFont typeface="Arial" panose="020B0604020202020204" pitchFamily="34" charset="0"/>
              <a:buNone/>
              <a:tabLst/>
              <a:defRPr lang="nl-NL" sz="1000" kern="1200" dirty="0">
                <a:solidFill>
                  <a:schemeClr val="tx1"/>
                </a:solidFill>
                <a:latin typeface="Century Gothic" panose="020B0502020202020204" pitchFamily="34" charset="0"/>
                <a:ea typeface="+mn-ea"/>
                <a:cs typeface="+mn-cs"/>
              </a:defRPr>
            </a:lvl1pPr>
          </a:lstStyle>
          <a:p>
            <a:pPr marL="0" marR="0" lvl="0" indent="0" algn="l" defTabSz="1004316" rtl="0" eaLnBrk="1" fontAlgn="auto" latinLnBrk="0" hangingPunct="1">
              <a:lnSpc>
                <a:spcPct val="100000"/>
              </a:lnSpc>
              <a:spcBef>
                <a:spcPct val="20000"/>
              </a:spcBef>
              <a:spcAft>
                <a:spcPts val="0"/>
              </a:spcAft>
              <a:buClrTx/>
              <a:buSzTx/>
              <a:buFont typeface="Arial" panose="020B0604020202020204" pitchFamily="34" charset="0"/>
              <a:buNone/>
              <a:tabLst/>
              <a:defRPr/>
            </a:pPr>
            <a:r>
              <a:rPr lang="nl-NL" sz="1050" dirty="0">
                <a:latin typeface="Century Gothic"/>
              </a:rPr>
              <a:t>Ook </a:t>
            </a:r>
            <a:r>
              <a:rPr lang="nl-NL" sz="1050" dirty="0" err="1">
                <a:latin typeface="Century Gothic"/>
              </a:rPr>
              <a:t>vapes</a:t>
            </a:r>
            <a:r>
              <a:rPr lang="nl-NL" sz="1050" dirty="0">
                <a:latin typeface="Century Gothic"/>
              </a:rPr>
              <a:t> bevatten veel schadelijke en verslavende stoffen. Vapen is de afgelopen jaren sterk toegenomen onder jongeren en komt onder jongeren inmiddels vaker voor dan het roken van sigaretten. INDICATORNAAM van de jongeren rookt en/of vapet minimaal wekelijks. </a:t>
            </a:r>
          </a:p>
          <a:p>
            <a:pPr lvl="0"/>
            <a:endParaRPr lang="nl-NL" dirty="0"/>
          </a:p>
        </p:txBody>
      </p:sp>
    </p:spTree>
    <p:extLst>
      <p:ext uri="{BB962C8B-B14F-4D97-AF65-F5344CB8AC3E}">
        <p14:creationId xmlns:p14="http://schemas.microsoft.com/office/powerpoint/2010/main" val="3525185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oken, vapen en drugs 2">
    <p:spTree>
      <p:nvGrpSpPr>
        <p:cNvPr id="1" name=""/>
        <p:cNvGrpSpPr/>
        <p:nvPr/>
      </p:nvGrpSpPr>
      <p:grpSpPr>
        <a:xfrm>
          <a:off x="0" y="0"/>
          <a:ext cx="0" cy="0"/>
          <a:chOff x="0" y="0"/>
          <a:chExt cx="0" cy="0"/>
        </a:xfrm>
      </p:grpSpPr>
      <p:cxnSp>
        <p:nvCxnSpPr>
          <p:cNvPr id="9" name="Rechter scheidingslijn" hidden="1">
            <a:extLst>
              <a:ext uri="{FF2B5EF4-FFF2-40B4-BE49-F238E27FC236}">
                <a16:creationId xmlns:a16="http://schemas.microsoft.com/office/drawing/2014/main" id="{0E620A24-DF61-5FC4-03CA-5A6296572634}"/>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6" name="Linker scheidingslijn" hidden="1">
            <a:extLst>
              <a:ext uri="{FF2B5EF4-FFF2-40B4-BE49-F238E27FC236}">
                <a16:creationId xmlns:a16="http://schemas.microsoft.com/office/drawing/2014/main" id="{BF991402-2FA5-B072-B26C-C18CB28F119D}"/>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htervlak" hidden="1">
            <a:extLst>
              <a:ext uri="{FF2B5EF4-FFF2-40B4-BE49-F238E27FC236}">
                <a16:creationId xmlns:a16="http://schemas.microsoft.com/office/drawing/2014/main" id="{478B4E9C-6EA3-86BA-A005-4898D3F0418B}"/>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BF23DF73-A70D-5886-BDA9-8AC739DA40ED}"/>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Linkervlak" hidden="1">
            <a:extLst>
              <a:ext uri="{FF2B5EF4-FFF2-40B4-BE49-F238E27FC236}">
                <a16:creationId xmlns:a16="http://schemas.microsoft.com/office/drawing/2014/main" id="{97D42C6D-667D-3980-8218-AB7A63BFE11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Driehoek">
            <a:extLst>
              <a:ext uri="{FF2B5EF4-FFF2-40B4-BE49-F238E27FC236}">
                <a16:creationId xmlns:a16="http://schemas.microsoft.com/office/drawing/2014/main" id="{21B134B6-8770-5116-9C38-3B3F380F4B00}"/>
              </a:ext>
            </a:extLst>
          </p:cNvPr>
          <p:cNvSpPr/>
          <p:nvPr userDrawn="1"/>
        </p:nvSpPr>
        <p:spPr>
          <a:xfrm rot="10800000" flipH="1">
            <a:off x="9719595" y="0"/>
            <a:ext cx="576000" cy="1066800"/>
          </a:xfrm>
          <a:prstGeom prst="rtTriangle">
            <a:avLst/>
          </a:prstGeom>
          <a:solidFill>
            <a:srgbClr val="4450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2" name="Titelblok">
            <a:extLst>
              <a:ext uri="{FF2B5EF4-FFF2-40B4-BE49-F238E27FC236}">
                <a16:creationId xmlns:a16="http://schemas.microsoft.com/office/drawing/2014/main" id="{4A4E7343-055A-E338-0CFE-074BB9B9608F}"/>
              </a:ext>
            </a:extLst>
          </p:cNvPr>
          <p:cNvSpPr/>
          <p:nvPr userDrawn="1"/>
        </p:nvSpPr>
        <p:spPr>
          <a:xfrm>
            <a:off x="0" y="0"/>
            <a:ext cx="9719589" cy="1066800"/>
          </a:xfrm>
          <a:prstGeom prst="rect">
            <a:avLst/>
          </a:prstGeom>
          <a:solidFill>
            <a:srgbClr val="4450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Roken, vapen en drugs - 2 </a:t>
            </a:r>
          </a:p>
        </p:txBody>
      </p:sp>
      <p:sp>
        <p:nvSpPr>
          <p:cNvPr id="25" name="Grafiek ouders vapen">
            <a:extLst>
              <a:ext uri="{FF2B5EF4-FFF2-40B4-BE49-F238E27FC236}">
                <a16:creationId xmlns:a16="http://schemas.microsoft.com/office/drawing/2014/main" id="{3233C6A0-A902-4E6C-3580-649181F4C736}"/>
              </a:ext>
            </a:extLst>
          </p:cNvPr>
          <p:cNvSpPr>
            <a:spLocks noGrp="1"/>
          </p:cNvSpPr>
          <p:nvPr>
            <p:ph type="chart" sz="quarter" idx="19"/>
          </p:nvPr>
        </p:nvSpPr>
        <p:spPr>
          <a:xfrm>
            <a:off x="6286500" y="1519199"/>
            <a:ext cx="5448281" cy="4821087"/>
          </a:xfrm>
          <a:prstGeom prst="rect">
            <a:avLst/>
          </a:prstGeom>
        </p:spPr>
        <p:txBody>
          <a:bodyPr/>
          <a:lstStyle>
            <a:lvl1pPr marL="0" indent="0">
              <a:buNone/>
              <a:defRPr/>
            </a:lvl1pPr>
          </a:lstStyle>
          <a:p>
            <a:endParaRPr lang="nl-NL" dirty="0"/>
          </a:p>
        </p:txBody>
      </p:sp>
      <p:sp>
        <p:nvSpPr>
          <p:cNvPr id="26" name="Grafiek ouders roken">
            <a:extLst>
              <a:ext uri="{FF2B5EF4-FFF2-40B4-BE49-F238E27FC236}">
                <a16:creationId xmlns:a16="http://schemas.microsoft.com/office/drawing/2014/main" id="{BF6DE00D-8866-40CC-79DD-BC5F7DEEF767}"/>
              </a:ext>
            </a:extLst>
          </p:cNvPr>
          <p:cNvSpPr>
            <a:spLocks noGrp="1"/>
          </p:cNvSpPr>
          <p:nvPr>
            <p:ph type="chart" sz="quarter" idx="14"/>
          </p:nvPr>
        </p:nvSpPr>
        <p:spPr>
          <a:xfrm>
            <a:off x="455538" y="1519200"/>
            <a:ext cx="5448281" cy="4821086"/>
          </a:xfrm>
          <a:prstGeom prst="rect">
            <a:avLst/>
          </a:prstGeom>
        </p:spPr>
        <p:txBody>
          <a:bodyPr/>
          <a:lstStyle>
            <a:lvl1pPr marL="0" indent="0">
              <a:buNone/>
              <a:defRPr/>
            </a:lvl1pPr>
          </a:lstStyle>
          <a:p>
            <a:endParaRPr lang="nl-NL" dirty="0"/>
          </a:p>
        </p:txBody>
      </p:sp>
    </p:spTree>
    <p:extLst>
      <p:ext uri="{BB962C8B-B14F-4D97-AF65-F5344CB8AC3E}">
        <p14:creationId xmlns:p14="http://schemas.microsoft.com/office/powerpoint/2010/main" val="3061689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ezin 1">
    <p:spTree>
      <p:nvGrpSpPr>
        <p:cNvPr id="1" name=""/>
        <p:cNvGrpSpPr/>
        <p:nvPr/>
      </p:nvGrpSpPr>
      <p:grpSpPr>
        <a:xfrm>
          <a:off x="0" y="0"/>
          <a:ext cx="0" cy="0"/>
          <a:chOff x="0" y="0"/>
          <a:chExt cx="0" cy="0"/>
        </a:xfrm>
      </p:grpSpPr>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cxnSp>
        <p:nvCxnSpPr>
          <p:cNvPr id="20" name="Rechte verbindingslijn 19">
            <a:extLst>
              <a:ext uri="{FF2B5EF4-FFF2-40B4-BE49-F238E27FC236}">
                <a16:creationId xmlns:a16="http://schemas.microsoft.com/office/drawing/2014/main" id="{3225D304-6E5E-946E-2D93-5C9A280E58B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1" name="Rechte verbindingslijn 20">
            <a:extLst>
              <a:ext uri="{FF2B5EF4-FFF2-40B4-BE49-F238E27FC236}">
                <a16:creationId xmlns:a16="http://schemas.microsoft.com/office/drawing/2014/main" id="{ED64F893-BBB7-B392-C184-DF060C3E7F93}"/>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Gezin</a:t>
            </a:r>
            <a:endParaRPr lang="nl-NL" sz="1800" b="1" noProof="0" dirty="0">
              <a:latin typeface="Century Gothic" panose="020B0502020202020204" pitchFamily="34" charset="0"/>
            </a:endParaRPr>
          </a:p>
        </p:txBody>
      </p:sp>
      <p:sp>
        <p:nvSpPr>
          <p:cNvPr id="4" name="Tekstvak 3">
            <a:extLst>
              <a:ext uri="{FF2B5EF4-FFF2-40B4-BE49-F238E27FC236}">
                <a16:creationId xmlns:a16="http://schemas.microsoft.com/office/drawing/2014/main" id="{31DE1161-19FB-F452-68B5-16351A66F708}"/>
              </a:ext>
            </a:extLst>
          </p:cNvPr>
          <p:cNvSpPr txBox="1"/>
          <p:nvPr userDrawn="1"/>
        </p:nvSpPr>
        <p:spPr>
          <a:xfrm>
            <a:off x="1780721" y="3247241"/>
            <a:ext cx="1791102"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kan bij niemand terecht als hij/zij ergens mee zit</a:t>
            </a:r>
          </a:p>
        </p:txBody>
      </p:sp>
      <p:sp>
        <p:nvSpPr>
          <p:cNvPr id="2" name="TextBox 1">
            <a:extLst>
              <a:ext uri="{FF2B5EF4-FFF2-40B4-BE49-F238E27FC236}">
                <a16:creationId xmlns:a16="http://schemas.microsoft.com/office/drawing/2014/main" id="{6F19E014-4ACE-EB8C-D81A-6956EF3C72F5}"/>
              </a:ext>
            </a:extLst>
          </p:cNvPr>
          <p:cNvSpPr txBox="1"/>
          <p:nvPr userDrawn="1"/>
        </p:nvSpPr>
        <p:spPr>
          <a:xfrm>
            <a:off x="463889" y="1524946"/>
            <a:ext cx="3676286" cy="99257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ysClr val="windowText" lastClr="000000"/>
                </a:solidFill>
                <a:latin typeface="Calibri"/>
              </a:defRPr>
            </a:lvl1pPr>
            <a:lvl2pPr marL="419926" algn="l" defTabSz="839852" rtl="0" eaLnBrk="1" latinLnBrk="0" hangingPunct="1">
              <a:defRPr sz="1653" kern="1200">
                <a:solidFill>
                  <a:sysClr val="windowText" lastClr="000000"/>
                </a:solidFill>
                <a:latin typeface="Calibri"/>
              </a:defRPr>
            </a:lvl2pPr>
            <a:lvl3pPr marL="839852" algn="l" defTabSz="839852" rtl="0" eaLnBrk="1" latinLnBrk="0" hangingPunct="1">
              <a:defRPr sz="1653" kern="1200">
                <a:solidFill>
                  <a:sysClr val="windowText" lastClr="000000"/>
                </a:solidFill>
                <a:latin typeface="Calibri"/>
              </a:defRPr>
            </a:lvl3pPr>
            <a:lvl4pPr marL="1259779" algn="l" defTabSz="839852" rtl="0" eaLnBrk="1" latinLnBrk="0" hangingPunct="1">
              <a:defRPr sz="1653" kern="1200">
                <a:solidFill>
                  <a:sysClr val="windowText" lastClr="000000"/>
                </a:solidFill>
                <a:latin typeface="Calibri"/>
              </a:defRPr>
            </a:lvl4pPr>
            <a:lvl5pPr marL="1679704" algn="l" defTabSz="839852" rtl="0" eaLnBrk="1" latinLnBrk="0" hangingPunct="1">
              <a:defRPr sz="1653" kern="1200">
                <a:solidFill>
                  <a:sysClr val="windowText" lastClr="000000"/>
                </a:solidFill>
                <a:latin typeface="Calibri"/>
              </a:defRPr>
            </a:lvl5pPr>
            <a:lvl6pPr marL="2099630" algn="l" defTabSz="839852" rtl="0" eaLnBrk="1" latinLnBrk="0" hangingPunct="1">
              <a:defRPr sz="1653" kern="1200">
                <a:solidFill>
                  <a:sysClr val="windowText" lastClr="000000"/>
                </a:solidFill>
                <a:latin typeface="Calibri"/>
              </a:defRPr>
            </a:lvl6pPr>
            <a:lvl7pPr marL="2519556" algn="l" defTabSz="839852" rtl="0" eaLnBrk="1" latinLnBrk="0" hangingPunct="1">
              <a:defRPr sz="1653" kern="1200">
                <a:solidFill>
                  <a:sysClr val="windowText" lastClr="000000"/>
                </a:solidFill>
                <a:latin typeface="Calibri"/>
              </a:defRPr>
            </a:lvl7pPr>
            <a:lvl8pPr marL="2939482" algn="l" defTabSz="839852" rtl="0" eaLnBrk="1" latinLnBrk="0" hangingPunct="1">
              <a:defRPr sz="1653" kern="1200">
                <a:solidFill>
                  <a:sysClr val="windowText" lastClr="000000"/>
                </a:solidFill>
                <a:latin typeface="Calibri"/>
              </a:defRPr>
            </a:lvl8pPr>
            <a:lvl9pPr marL="3359408" algn="l" defTabSz="839852" rtl="0" eaLnBrk="1" latinLnBrk="0" hangingPunct="1">
              <a:defRPr sz="1653" kern="1200">
                <a:solidFill>
                  <a:sysClr val="windowText" lastClr="000000"/>
                </a:solidFill>
                <a:latin typeface="Calibri"/>
              </a:defRPr>
            </a:lvl9pPr>
          </a:lstStyle>
          <a:p>
            <a:pPr>
              <a:defRPr/>
            </a:pPr>
            <a:r>
              <a:rPr lang="nl-NL" sz="1000" b="0" kern="1200" noProof="0" dirty="0">
                <a:solidFill>
                  <a:schemeClr val="tx1"/>
                </a:solidFill>
                <a:latin typeface="Century Gothic" panose="020B0502020202020204" pitchFamily="34" charset="0"/>
                <a:ea typeface="+mn-ea"/>
                <a:cs typeface="Arial" panose="020B0604020202020204" pitchFamily="34" charset="0"/>
              </a:rPr>
              <a:t>Steun en betrokkenheid van ouders hebben een beschermende werking op middelengebruik en mentale gezondheid van jongeren. Dat geldt ook voor ouders die veel tijd doorbrengen met hun kind, weten waar hun kind is en duidelijke regels hebben over wat hun kind wel en niet mag doen.</a:t>
            </a:r>
          </a:p>
        </p:txBody>
      </p:sp>
      <p:sp>
        <p:nvSpPr>
          <p:cNvPr id="19" name="Grafiek mentaal tijd">
            <a:extLst>
              <a:ext uri="{FF2B5EF4-FFF2-40B4-BE49-F238E27FC236}">
                <a16:creationId xmlns:a16="http://schemas.microsoft.com/office/drawing/2014/main" id="{32F134F1-45F3-A56E-9038-F92D47EA0A46}"/>
              </a:ext>
            </a:extLst>
          </p:cNvPr>
          <p:cNvSpPr>
            <a:spLocks noGrp="1"/>
          </p:cNvSpPr>
          <p:nvPr>
            <p:ph type="chart" sz="quarter" idx="17"/>
          </p:nvPr>
        </p:nvSpPr>
        <p:spPr>
          <a:xfrm>
            <a:off x="8278781" y="4024800"/>
            <a:ext cx="3456000" cy="2340000"/>
          </a:xfrm>
          <a:prstGeom prst="rect">
            <a:avLst/>
          </a:prstGeom>
        </p:spPr>
        <p:txBody>
          <a:bodyPr/>
          <a:lstStyle>
            <a:lvl1pPr marL="0" indent="0">
              <a:buNone/>
              <a:defRPr sz="3200"/>
            </a:lvl1pPr>
          </a:lstStyle>
          <a:p>
            <a:endParaRPr lang="nl-NL"/>
          </a:p>
        </p:txBody>
      </p:sp>
      <p:sp>
        <p:nvSpPr>
          <p:cNvPr id="22" name="Grafiek ouders regels">
            <a:extLst>
              <a:ext uri="{FF2B5EF4-FFF2-40B4-BE49-F238E27FC236}">
                <a16:creationId xmlns:a16="http://schemas.microsoft.com/office/drawing/2014/main" id="{8927A105-2FB9-7D11-40DE-61B54C218EB8}"/>
              </a:ext>
            </a:extLst>
          </p:cNvPr>
          <p:cNvSpPr>
            <a:spLocks noGrp="1"/>
          </p:cNvSpPr>
          <p:nvPr>
            <p:ph type="chart" sz="quarter" idx="16"/>
          </p:nvPr>
        </p:nvSpPr>
        <p:spPr>
          <a:xfrm>
            <a:off x="8278781" y="1519200"/>
            <a:ext cx="3456000" cy="2340000"/>
          </a:xfrm>
          <a:prstGeom prst="rect">
            <a:avLst/>
          </a:prstGeom>
        </p:spPr>
        <p:txBody>
          <a:bodyPr/>
          <a:lstStyle>
            <a:lvl1pPr marL="0" indent="0">
              <a:buNone/>
              <a:defRPr sz="3200"/>
            </a:lvl1pPr>
          </a:lstStyle>
          <a:p>
            <a:endParaRPr lang="nl-NL"/>
          </a:p>
        </p:txBody>
      </p:sp>
      <p:sp>
        <p:nvSpPr>
          <p:cNvPr id="23" name="Grafiek ouders tijd">
            <a:extLst>
              <a:ext uri="{FF2B5EF4-FFF2-40B4-BE49-F238E27FC236}">
                <a16:creationId xmlns:a16="http://schemas.microsoft.com/office/drawing/2014/main" id="{E4AB63F7-4C6C-2EBF-E8D7-FBB386352204}"/>
              </a:ext>
            </a:extLst>
          </p:cNvPr>
          <p:cNvSpPr>
            <a:spLocks noGrp="1"/>
          </p:cNvSpPr>
          <p:nvPr>
            <p:ph type="chart" sz="quarter" idx="19"/>
          </p:nvPr>
        </p:nvSpPr>
        <p:spPr>
          <a:xfrm>
            <a:off x="4370400" y="4024800"/>
            <a:ext cx="3456000" cy="2340000"/>
          </a:xfrm>
          <a:prstGeom prst="rect">
            <a:avLst/>
          </a:prstGeom>
        </p:spPr>
        <p:txBody>
          <a:bodyPr/>
          <a:lstStyle>
            <a:lvl1pPr marL="0" indent="0">
              <a:buNone/>
              <a:defRPr sz="3200"/>
            </a:lvl1pPr>
          </a:lstStyle>
          <a:p>
            <a:endParaRPr lang="nl-NL" dirty="0"/>
          </a:p>
        </p:txBody>
      </p:sp>
      <p:sp>
        <p:nvSpPr>
          <p:cNvPr id="24" name="Grafiek ouders weten">
            <a:extLst>
              <a:ext uri="{FF2B5EF4-FFF2-40B4-BE49-F238E27FC236}">
                <a16:creationId xmlns:a16="http://schemas.microsoft.com/office/drawing/2014/main" id="{6E66AB55-227B-CE36-7E38-E5FA74E13257}"/>
              </a:ext>
            </a:extLst>
          </p:cNvPr>
          <p:cNvSpPr>
            <a:spLocks noGrp="1"/>
          </p:cNvSpPr>
          <p:nvPr>
            <p:ph type="chart" sz="quarter" idx="20"/>
          </p:nvPr>
        </p:nvSpPr>
        <p:spPr>
          <a:xfrm>
            <a:off x="4370400" y="1519200"/>
            <a:ext cx="3456000" cy="2340000"/>
          </a:xfrm>
          <a:prstGeom prst="rect">
            <a:avLst/>
          </a:prstGeom>
        </p:spPr>
        <p:txBody>
          <a:bodyPr/>
          <a:lstStyle>
            <a:lvl1pPr marL="0" indent="0">
              <a:buNone/>
              <a:defRPr sz="3200"/>
            </a:lvl1pPr>
          </a:lstStyle>
          <a:p>
            <a:endParaRPr lang="nl-NL" dirty="0"/>
          </a:p>
        </p:txBody>
      </p:sp>
      <p:sp>
        <p:nvSpPr>
          <p:cNvPr id="25" name="Grafiek terecht probleem">
            <a:extLst>
              <a:ext uri="{FF2B5EF4-FFF2-40B4-BE49-F238E27FC236}">
                <a16:creationId xmlns:a16="http://schemas.microsoft.com/office/drawing/2014/main" id="{08F1B6D0-F56B-103E-CE9E-94734C47EF77}"/>
              </a:ext>
            </a:extLst>
          </p:cNvPr>
          <p:cNvSpPr>
            <a:spLocks noGrp="1"/>
          </p:cNvSpPr>
          <p:nvPr>
            <p:ph type="chart" sz="quarter" idx="21"/>
          </p:nvPr>
        </p:nvSpPr>
        <p:spPr>
          <a:xfrm>
            <a:off x="463887" y="4024800"/>
            <a:ext cx="3456000" cy="2340000"/>
          </a:xfrm>
          <a:prstGeom prst="rect">
            <a:avLst/>
          </a:prstGeom>
        </p:spPr>
        <p:txBody>
          <a:bodyPr/>
          <a:lstStyle>
            <a:lvl1pPr marL="0" indent="0">
              <a:buNone/>
              <a:defRPr sz="3200"/>
            </a:lvl1pPr>
          </a:lstStyle>
          <a:p>
            <a:endParaRPr lang="nl-NL" dirty="0"/>
          </a:p>
        </p:txBody>
      </p:sp>
      <p:sp>
        <p:nvSpPr>
          <p:cNvPr id="5" name="Percentage terecht">
            <a:extLst>
              <a:ext uri="{FF2B5EF4-FFF2-40B4-BE49-F238E27FC236}">
                <a16:creationId xmlns:a16="http://schemas.microsoft.com/office/drawing/2014/main" id="{1B2381A6-D792-7218-964A-4EEB1B9CC22D}"/>
              </a:ext>
            </a:extLst>
          </p:cNvPr>
          <p:cNvSpPr>
            <a:spLocks noGrp="1"/>
          </p:cNvSpPr>
          <p:nvPr>
            <p:ph type="body" sz="quarter" idx="13" hasCustomPrompt="1"/>
          </p:nvPr>
        </p:nvSpPr>
        <p:spPr>
          <a:xfrm>
            <a:off x="942521" y="3035890"/>
            <a:ext cx="838200" cy="838200"/>
          </a:xfrm>
          <a:prstGeom prst="ellipse">
            <a:avLst/>
          </a:prstGeom>
          <a:solidFill>
            <a:schemeClr val="accent5"/>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13872128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chool">
    <p:spTree>
      <p:nvGrpSpPr>
        <p:cNvPr id="1" name=""/>
        <p:cNvGrpSpPr/>
        <p:nvPr/>
      </p:nvGrpSpPr>
      <p:grpSpPr>
        <a:xfrm>
          <a:off x="0" y="0"/>
          <a:ext cx="0" cy="0"/>
          <a:chOff x="0" y="0"/>
          <a:chExt cx="0" cy="0"/>
        </a:xfrm>
      </p:grpSpPr>
      <p:sp>
        <p:nvSpPr>
          <p:cNvPr id="6" name="Rectangle 16">
            <a:extLst>
              <a:ext uri="{FF2B5EF4-FFF2-40B4-BE49-F238E27FC236}">
                <a16:creationId xmlns:a16="http://schemas.microsoft.com/office/drawing/2014/main" id="{623A811D-D64D-05CF-4309-F58DABF7FAAD}"/>
              </a:ext>
            </a:extLst>
          </p:cNvPr>
          <p:cNvSpPr/>
          <p:nvPr userDrawn="1"/>
        </p:nvSpPr>
        <p:spPr>
          <a:xfrm>
            <a:off x="0" y="0"/>
            <a:ext cx="9719589" cy="106680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School</a:t>
            </a:r>
            <a:endParaRPr lang="nl-NL" sz="1800" b="1" noProof="0" dirty="0">
              <a:latin typeface="Century Gothic" panose="020B0502020202020204" pitchFamily="34" charset="0"/>
            </a:endParaRPr>
          </a:p>
        </p:txBody>
      </p:sp>
      <p:sp>
        <p:nvSpPr>
          <p:cNvPr id="7" name="Rectangle 16">
            <a:extLst>
              <a:ext uri="{FF2B5EF4-FFF2-40B4-BE49-F238E27FC236}">
                <a16:creationId xmlns:a16="http://schemas.microsoft.com/office/drawing/2014/main" id="{4A2D4A77-5D5D-1CD5-5264-00420710E4B9}"/>
              </a:ext>
            </a:extLst>
          </p:cNvPr>
          <p:cNvSpPr/>
          <p:nvPr userDrawn="1"/>
        </p:nvSpPr>
        <p:spPr>
          <a:xfrm rot="10800000" flipH="1">
            <a:off x="9719595" y="0"/>
            <a:ext cx="576000" cy="1066800"/>
          </a:xfrm>
          <a:prstGeom prst="rtTriangl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8" name="Rechte verbindingslijn 7" hidden="1">
            <a:extLst>
              <a:ext uri="{FF2B5EF4-FFF2-40B4-BE49-F238E27FC236}">
                <a16:creationId xmlns:a16="http://schemas.microsoft.com/office/drawing/2014/main" id="{4EBBC388-6203-4103-0F55-DC5BDB6D0BF4}"/>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9" name="Rechte verbindingslijn 8">
            <a:extLst>
              <a:ext uri="{FF2B5EF4-FFF2-40B4-BE49-F238E27FC236}">
                <a16:creationId xmlns:a16="http://schemas.microsoft.com/office/drawing/2014/main" id="{424C6457-282A-BC97-441C-833F23E9AB8C}"/>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0" name="Rechthoek 9" hidden="1">
            <a:extLst>
              <a:ext uri="{FF2B5EF4-FFF2-40B4-BE49-F238E27FC236}">
                <a16:creationId xmlns:a16="http://schemas.microsoft.com/office/drawing/2014/main" id="{9CE902B1-2428-39F7-E897-006B2D2185CF}"/>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1" name="Rechthoek 10" hidden="1">
            <a:extLst>
              <a:ext uri="{FF2B5EF4-FFF2-40B4-BE49-F238E27FC236}">
                <a16:creationId xmlns:a16="http://schemas.microsoft.com/office/drawing/2014/main" id="{71B5B0DE-2A03-5D06-0A1F-4F2A6BFCFB1F}"/>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4" name="Rechthoek 13" hidden="1">
            <a:extLst>
              <a:ext uri="{FF2B5EF4-FFF2-40B4-BE49-F238E27FC236}">
                <a16:creationId xmlns:a16="http://schemas.microsoft.com/office/drawing/2014/main" id="{6982CEA3-186B-F917-C1B8-B003643EAECD}"/>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5" name="TextBox 1">
            <a:extLst>
              <a:ext uri="{FF2B5EF4-FFF2-40B4-BE49-F238E27FC236}">
                <a16:creationId xmlns:a16="http://schemas.microsoft.com/office/drawing/2014/main" id="{4BEFB0FC-6068-D09D-E746-9ED1F84593F8}"/>
              </a:ext>
            </a:extLst>
          </p:cNvPr>
          <p:cNvSpPr txBox="1"/>
          <p:nvPr userDrawn="1"/>
        </p:nvSpPr>
        <p:spPr>
          <a:xfrm>
            <a:off x="455476" y="1519201"/>
            <a:ext cx="7367875" cy="992579"/>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algn="l" defTabSz="839852" rtl="0" eaLnBrk="1" latinLnBrk="0" hangingPunct="1"/>
            <a:r>
              <a:rPr lang="nl-NL" sz="1000" b="0" kern="1200" noProof="0" dirty="0">
                <a:solidFill>
                  <a:schemeClr val="tx1"/>
                </a:solidFill>
                <a:latin typeface="Century Gothic" panose="020B0502020202020204" pitchFamily="34" charset="0"/>
                <a:ea typeface="+mn-ea"/>
                <a:cs typeface="Arial" panose="020B0604020202020204" pitchFamily="34" charset="0"/>
              </a:rPr>
              <a:t>Jongeren brengen een groot deel van hun tijd door op school. Op school doen jongeren kennis en vaardigheden op die belangrijk zijn voor hun ontwikkeling. Ook doen ze sociale contacten op en maken ze vrienden. </a:t>
            </a:r>
          </a:p>
          <a:p>
            <a:pPr marL="0" algn="l" defTabSz="839852" rtl="0" eaLnBrk="1" latinLnBrk="0" hangingPunct="1"/>
            <a:endParaRPr lang="nl-NL" sz="1000" b="0" kern="1200" noProof="0" dirty="0">
              <a:solidFill>
                <a:schemeClr val="tx1"/>
              </a:solidFill>
              <a:latin typeface="Century Gothic" panose="020B0502020202020204" pitchFamily="34" charset="0"/>
              <a:ea typeface="+mn-ea"/>
              <a:cs typeface="Arial" panose="020B0604020202020204" pitchFamily="34" charset="0"/>
            </a:endParaRPr>
          </a:p>
          <a:p>
            <a:pPr marL="0" algn="l" defTabSz="839852" rtl="0" eaLnBrk="1" latinLnBrk="0" hangingPunct="1"/>
            <a:r>
              <a:rPr lang="nl-NL" sz="1000" b="0" kern="1200" noProof="0" dirty="0">
                <a:solidFill>
                  <a:schemeClr val="tx1"/>
                </a:solidFill>
                <a:latin typeface="Century Gothic" panose="020B0502020202020204" pitchFamily="34" charset="0"/>
                <a:ea typeface="+mn-ea"/>
                <a:cs typeface="Arial" panose="020B0604020202020204" pitchFamily="34" charset="0"/>
              </a:rPr>
              <a:t>Een positief schoolklimaat helpt jongeren zich veilig, geaccepteerd en gewaardeerd te voelen. Een positief schoolklimaat is een beschermende factor voor middelengebruik en draagt bij aan het mentaal welbevinden van leerlingen. </a:t>
            </a:r>
          </a:p>
        </p:txBody>
      </p:sp>
      <p:sp>
        <p:nvSpPr>
          <p:cNvPr id="12" name="TextBox 1">
            <a:extLst>
              <a:ext uri="{FF2B5EF4-FFF2-40B4-BE49-F238E27FC236}">
                <a16:creationId xmlns:a16="http://schemas.microsoft.com/office/drawing/2014/main" id="{8E0FD42C-CA00-77DA-617E-D7FEC7CA8C8F}"/>
              </a:ext>
            </a:extLst>
          </p:cNvPr>
          <p:cNvSpPr txBox="1"/>
          <p:nvPr userDrawn="1"/>
        </p:nvSpPr>
        <p:spPr>
          <a:xfrm>
            <a:off x="8277251" y="1519200"/>
            <a:ext cx="3455787" cy="377026"/>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algn="l" defTabSz="839852" rtl="0" eaLnBrk="1" latinLnBrk="0" hangingPunct="1"/>
            <a:r>
              <a:rPr lang="nl-NL" sz="1000" b="0" kern="1200" noProof="0" dirty="0">
                <a:solidFill>
                  <a:schemeClr val="tx1"/>
                </a:solidFill>
                <a:latin typeface="Century Gothic" panose="020B0502020202020204" pitchFamily="34" charset="0"/>
                <a:ea typeface="+mn-ea"/>
                <a:cs typeface="Arial" panose="020B0604020202020204" pitchFamily="34" charset="0"/>
              </a:rPr>
              <a:t>Als jongeren gepest worden is de kans dat zij middelen gaan gebruiken in hun latere leven groter. </a:t>
            </a:r>
          </a:p>
        </p:txBody>
      </p:sp>
      <p:sp>
        <p:nvSpPr>
          <p:cNvPr id="15" name="Tekstvak 14">
            <a:extLst>
              <a:ext uri="{FF2B5EF4-FFF2-40B4-BE49-F238E27FC236}">
                <a16:creationId xmlns:a16="http://schemas.microsoft.com/office/drawing/2014/main" id="{67CF3B78-27C0-3474-E8CD-E9ADF647C178}"/>
              </a:ext>
            </a:extLst>
          </p:cNvPr>
          <p:cNvSpPr txBox="1"/>
          <p:nvPr userDrawn="1"/>
        </p:nvSpPr>
        <p:spPr>
          <a:xfrm>
            <a:off x="9638846" y="2587978"/>
            <a:ext cx="2094192"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is in de laatste 3 maanden op of rond school gepest</a:t>
            </a:r>
          </a:p>
        </p:txBody>
      </p:sp>
      <p:sp>
        <p:nvSpPr>
          <p:cNvPr id="4" name="Grafiek school betrokken">
            <a:extLst>
              <a:ext uri="{FF2B5EF4-FFF2-40B4-BE49-F238E27FC236}">
                <a16:creationId xmlns:a16="http://schemas.microsoft.com/office/drawing/2014/main" id="{DD5BEB99-7026-F31A-DCB0-D675FCF9957D}"/>
              </a:ext>
            </a:extLst>
          </p:cNvPr>
          <p:cNvSpPr>
            <a:spLocks noGrp="1"/>
          </p:cNvSpPr>
          <p:nvPr>
            <p:ph type="chart" sz="quarter" idx="17"/>
          </p:nvPr>
        </p:nvSpPr>
        <p:spPr>
          <a:xfrm>
            <a:off x="8278669" y="3933960"/>
            <a:ext cx="3454371" cy="2160000"/>
          </a:xfrm>
          <a:prstGeom prst="rect">
            <a:avLst/>
          </a:prstGeom>
        </p:spPr>
        <p:txBody>
          <a:bodyPr/>
          <a:lstStyle>
            <a:lvl1pPr marL="0" indent="0">
              <a:buNone/>
              <a:defRPr sz="3200"/>
            </a:lvl1pPr>
          </a:lstStyle>
          <a:p>
            <a:endParaRPr lang="nl-NL"/>
          </a:p>
        </p:txBody>
      </p:sp>
      <p:sp>
        <p:nvSpPr>
          <p:cNvPr id="13" name="Percentage pesten">
            <a:extLst>
              <a:ext uri="{FF2B5EF4-FFF2-40B4-BE49-F238E27FC236}">
                <a16:creationId xmlns:a16="http://schemas.microsoft.com/office/drawing/2014/main" id="{18988943-E68F-6EA8-DE17-C03DAB696AA3}"/>
              </a:ext>
            </a:extLst>
          </p:cNvPr>
          <p:cNvSpPr>
            <a:spLocks noGrp="1"/>
          </p:cNvSpPr>
          <p:nvPr>
            <p:ph type="body" sz="quarter" idx="13" hasCustomPrompt="1"/>
          </p:nvPr>
        </p:nvSpPr>
        <p:spPr>
          <a:xfrm>
            <a:off x="8804130" y="2376627"/>
            <a:ext cx="838200" cy="838200"/>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 name="Grafiek schoolbeleving">
            <a:extLst>
              <a:ext uri="{FF2B5EF4-FFF2-40B4-BE49-F238E27FC236}">
                <a16:creationId xmlns:a16="http://schemas.microsoft.com/office/drawing/2014/main" id="{9D425F28-A08D-2E93-F585-7DCB06C12ED1}"/>
              </a:ext>
            </a:extLst>
          </p:cNvPr>
          <p:cNvSpPr>
            <a:spLocks noGrp="1"/>
          </p:cNvSpPr>
          <p:nvPr>
            <p:ph type="chart" sz="quarter" idx="16"/>
          </p:nvPr>
        </p:nvSpPr>
        <p:spPr>
          <a:xfrm>
            <a:off x="455476" y="2719530"/>
            <a:ext cx="7370924" cy="3681270"/>
          </a:xfrm>
          <a:prstGeom prst="rect">
            <a:avLst/>
          </a:prstGeom>
        </p:spPr>
        <p:txBody>
          <a:bodyPr/>
          <a:lstStyle>
            <a:lvl1pPr marL="0" indent="0">
              <a:buNone/>
              <a:defRPr sz="3200"/>
            </a:lvl1pPr>
          </a:lstStyle>
          <a:p>
            <a:endParaRPr lang="nl-NL"/>
          </a:p>
        </p:txBody>
      </p:sp>
    </p:spTree>
    <p:extLst>
      <p:ext uri="{BB962C8B-B14F-4D97-AF65-F5344CB8AC3E}">
        <p14:creationId xmlns:p14="http://schemas.microsoft.com/office/powerpoint/2010/main" val="601542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eftijdsgenoten">
    <p:spTree>
      <p:nvGrpSpPr>
        <p:cNvPr id="1" name=""/>
        <p:cNvGrpSpPr/>
        <p:nvPr/>
      </p:nvGrpSpPr>
      <p:grpSpPr>
        <a:xfrm>
          <a:off x="0" y="0"/>
          <a:ext cx="0" cy="0"/>
          <a:chOff x="0" y="0"/>
          <a:chExt cx="0" cy="0"/>
        </a:xfrm>
      </p:grpSpPr>
      <p:sp>
        <p:nvSpPr>
          <p:cNvPr id="11" name="Rectangle 16">
            <a:extLst>
              <a:ext uri="{FF2B5EF4-FFF2-40B4-BE49-F238E27FC236}">
                <a16:creationId xmlns:a16="http://schemas.microsoft.com/office/drawing/2014/main" id="{FF6D8850-0085-C881-9582-A2B3710ACD7E}"/>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- 1</a:t>
            </a:r>
            <a:endParaRPr lang="nl-NL" sz="1800" b="1" noProof="0" dirty="0">
              <a:latin typeface="Century Gothic" panose="020B0502020202020204" pitchFamily="34" charset="0"/>
            </a:endParaRPr>
          </a:p>
        </p:txBody>
      </p:sp>
      <p:sp>
        <p:nvSpPr>
          <p:cNvPr id="15" name="Rectangle 16">
            <a:extLst>
              <a:ext uri="{FF2B5EF4-FFF2-40B4-BE49-F238E27FC236}">
                <a16:creationId xmlns:a16="http://schemas.microsoft.com/office/drawing/2014/main" id="{A763C116-2583-57EA-96E0-7AC9A37C1DA3}"/>
              </a:ext>
            </a:extLst>
          </p:cNvPr>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cxnSp>
        <p:nvCxnSpPr>
          <p:cNvPr id="16" name="Rechte verbindingslijn 15">
            <a:extLst>
              <a:ext uri="{FF2B5EF4-FFF2-40B4-BE49-F238E27FC236}">
                <a16:creationId xmlns:a16="http://schemas.microsoft.com/office/drawing/2014/main" id="{A547F1BE-A357-0035-C17F-79B51F1A243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17">
            <a:extLst>
              <a:ext uri="{FF2B5EF4-FFF2-40B4-BE49-F238E27FC236}">
                <a16:creationId xmlns:a16="http://schemas.microsoft.com/office/drawing/2014/main" id="{2BDC6982-5E05-D0D8-2BEA-A731689CD532}"/>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9" name="Rechthoek 18" hidden="1">
            <a:extLst>
              <a:ext uri="{FF2B5EF4-FFF2-40B4-BE49-F238E27FC236}">
                <a16:creationId xmlns:a16="http://schemas.microsoft.com/office/drawing/2014/main" id="{9C90250F-66E0-5F0D-21FB-2DF018B715DD}"/>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Rechthoek 20" hidden="1">
            <a:extLst>
              <a:ext uri="{FF2B5EF4-FFF2-40B4-BE49-F238E27FC236}">
                <a16:creationId xmlns:a16="http://schemas.microsoft.com/office/drawing/2014/main" id="{215ED514-AADD-15D2-FE3F-BD5C26AA1DCE}"/>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2" name="Rechthoek 21" hidden="1">
            <a:extLst>
              <a:ext uri="{FF2B5EF4-FFF2-40B4-BE49-F238E27FC236}">
                <a16:creationId xmlns:a16="http://schemas.microsoft.com/office/drawing/2014/main" id="{D2C6E18D-CC15-2012-4379-CBDD6E875838}"/>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0" name="Tekstvak 9">
            <a:extLst>
              <a:ext uri="{FF2B5EF4-FFF2-40B4-BE49-F238E27FC236}">
                <a16:creationId xmlns:a16="http://schemas.microsoft.com/office/drawing/2014/main" id="{C41DE5DE-AB70-720A-1D42-E507A0A8F0E0}"/>
              </a:ext>
            </a:extLst>
          </p:cNvPr>
          <p:cNvSpPr txBox="1"/>
          <p:nvPr userDrawn="1"/>
        </p:nvSpPr>
        <p:spPr>
          <a:xfrm>
            <a:off x="457219" y="1519202"/>
            <a:ext cx="3452732" cy="1015663"/>
          </a:xfrm>
          <a:prstGeom prst="rect">
            <a:avLst/>
          </a:prstGeom>
          <a:noFill/>
        </p:spPr>
        <p:txBody>
          <a:bodyPr wrap="square" rtlCol="0">
            <a:spAutoFit/>
          </a:bodyPr>
          <a:lstStyle/>
          <a:p>
            <a:pPr marL="0" marR="0" lvl="0" indent="0" algn="l" defTabSz="629889" rtl="0" eaLnBrk="1" fontAlgn="auto" latinLnBrk="0" hangingPunct="1">
              <a:lnSpc>
                <a:spcPct val="100000"/>
              </a:lnSpc>
              <a:spcBef>
                <a:spcPts val="0"/>
              </a:spcBef>
              <a:spcAft>
                <a:spcPts val="0"/>
              </a:spcAft>
              <a:buClrTx/>
              <a:buSzTx/>
              <a:buFontTx/>
              <a:buNone/>
              <a:tabLst/>
              <a:defRPr/>
            </a:pPr>
            <a:r>
              <a:rPr lang="nl-NL" sz="1000" b="0" i="0" dirty="0">
                <a:solidFill>
                  <a:srgbClr val="000000"/>
                </a:solidFill>
                <a:effectLst/>
                <a:latin typeface="Century Gothic" panose="020B0502020202020204" pitchFamily="34" charset="0"/>
              </a:rPr>
              <a:t>Leeftijdsgenoten spelen een grote rol in de ontwikkeling en het gedrag van jongeren. Het blijkt dat voor jongeren het tot laat buiten rondhangen een negatieve invloed heeft op gezond gedrag. </a:t>
            </a:r>
          </a:p>
          <a:p>
            <a:pPr marL="0" marR="0" lvl="0" indent="0" algn="l" defTabSz="629889" rtl="0" eaLnBrk="1" fontAlgn="auto" latinLnBrk="0" hangingPunct="1">
              <a:lnSpc>
                <a:spcPct val="100000"/>
              </a:lnSpc>
              <a:spcBef>
                <a:spcPts val="0"/>
              </a:spcBef>
              <a:spcAft>
                <a:spcPts val="0"/>
              </a:spcAft>
              <a:buClrTx/>
              <a:buSzTx/>
              <a:buFontTx/>
              <a:buNone/>
              <a:tabLst/>
              <a:defRPr/>
            </a:pPr>
            <a:r>
              <a:rPr lang="nl-NL" sz="1000" kern="1200" dirty="0">
                <a:solidFill>
                  <a:schemeClr val="tx1"/>
                </a:solidFill>
                <a:latin typeface="Century Gothic" panose="020B0502020202020204" pitchFamily="34" charset="0"/>
                <a:ea typeface="+mn-ea"/>
                <a:cs typeface="+mn-cs"/>
              </a:rPr>
              <a:t>Dit geldt ook voor ergens chillen zonder aanwezigheid van volwassenen.</a:t>
            </a:r>
          </a:p>
        </p:txBody>
      </p:sp>
      <p:sp>
        <p:nvSpPr>
          <p:cNvPr id="4" name="Tekstvak 3">
            <a:extLst>
              <a:ext uri="{FF2B5EF4-FFF2-40B4-BE49-F238E27FC236}">
                <a16:creationId xmlns:a16="http://schemas.microsoft.com/office/drawing/2014/main" id="{E4BE96DF-8CFD-10C7-B337-A43C57D8AC99}"/>
              </a:ext>
            </a:extLst>
          </p:cNvPr>
          <p:cNvSpPr txBox="1"/>
          <p:nvPr userDrawn="1"/>
        </p:nvSpPr>
        <p:spPr>
          <a:xfrm>
            <a:off x="1569837" y="3073844"/>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kwam in de afgelopen week 3 of meer dagen na 22 uur thuis</a:t>
            </a:r>
          </a:p>
        </p:txBody>
      </p:sp>
      <p:sp>
        <p:nvSpPr>
          <p:cNvPr id="6" name="Tekstvak 5">
            <a:extLst>
              <a:ext uri="{FF2B5EF4-FFF2-40B4-BE49-F238E27FC236}">
                <a16:creationId xmlns:a16="http://schemas.microsoft.com/office/drawing/2014/main" id="{A67E0389-0D01-2E46-9031-F8C08073BA16}"/>
              </a:ext>
            </a:extLst>
          </p:cNvPr>
          <p:cNvSpPr txBox="1"/>
          <p:nvPr userDrawn="1"/>
        </p:nvSpPr>
        <p:spPr>
          <a:xfrm>
            <a:off x="1578589" y="4060346"/>
            <a:ext cx="2405518" cy="553998"/>
          </a:xfrm>
          <a:prstGeom prst="rect">
            <a:avLst/>
          </a:prstGeom>
          <a:noFill/>
        </p:spPr>
        <p:txBody>
          <a:bodyPr wrap="square">
            <a:spAutoFit/>
          </a:bodyPr>
          <a:lstStyle/>
          <a:p>
            <a:pPr marL="0" algn="l" defTabSz="629889" rtl="0" eaLnBrk="1" latinLnBrk="0" hangingPunct="1"/>
            <a:r>
              <a:rPr lang="nl-NL" sz="1000" b="1" kern="1200" noProof="0" dirty="0" err="1">
                <a:solidFill>
                  <a:schemeClr val="tx1"/>
                </a:solidFill>
                <a:latin typeface="Century Gothic" panose="020B0502020202020204" pitchFamily="34" charset="0"/>
                <a:ea typeface="+mn-ea"/>
                <a:cs typeface="Arial" panose="020B0604020202020204" pitchFamily="34" charset="0"/>
              </a:rPr>
              <a:t>chilt</a:t>
            </a:r>
            <a:r>
              <a:rPr lang="nl-NL" sz="1000" b="1" kern="1200" noProof="0" dirty="0">
                <a:solidFill>
                  <a:schemeClr val="tx1"/>
                </a:solidFill>
                <a:latin typeface="Century Gothic" panose="020B0502020202020204" pitchFamily="34" charset="0"/>
                <a:ea typeface="+mn-ea"/>
                <a:cs typeface="Arial" panose="020B0604020202020204" pitchFamily="34" charset="0"/>
              </a:rPr>
              <a:t> 1x per maand of vaker bij vrienden thuis zonder aanwezigheid van volwassenen</a:t>
            </a:r>
          </a:p>
        </p:txBody>
      </p:sp>
      <p:sp>
        <p:nvSpPr>
          <p:cNvPr id="9" name="Tekstvak 8">
            <a:extLst>
              <a:ext uri="{FF2B5EF4-FFF2-40B4-BE49-F238E27FC236}">
                <a16:creationId xmlns:a16="http://schemas.microsoft.com/office/drawing/2014/main" id="{2B0192B4-A0CE-ED5C-DCDA-F6E5BE146BEA}"/>
              </a:ext>
            </a:extLst>
          </p:cNvPr>
          <p:cNvSpPr txBox="1"/>
          <p:nvPr userDrawn="1"/>
        </p:nvSpPr>
        <p:spPr>
          <a:xfrm>
            <a:off x="1578589" y="5230134"/>
            <a:ext cx="2339615" cy="707886"/>
          </a:xfrm>
          <a:prstGeom prst="rect">
            <a:avLst/>
          </a:prstGeom>
          <a:noFill/>
        </p:spPr>
        <p:txBody>
          <a:bodyPr wrap="square">
            <a:spAutoFit/>
          </a:bodyPr>
          <a:lstStyle/>
          <a:p>
            <a:pPr marL="0" algn="l" defTabSz="629889" rtl="0" eaLnBrk="1" latinLnBrk="0" hangingPunct="1"/>
            <a:r>
              <a:rPr lang="nl-NL" sz="1000" b="1" kern="1200" noProof="0" dirty="0" err="1">
                <a:solidFill>
                  <a:schemeClr val="tx1"/>
                </a:solidFill>
                <a:latin typeface="Century Gothic" panose="020B0502020202020204" pitchFamily="34" charset="0"/>
                <a:ea typeface="+mn-ea"/>
                <a:cs typeface="Arial" panose="020B0604020202020204" pitchFamily="34" charset="0"/>
              </a:rPr>
              <a:t>chilt</a:t>
            </a:r>
            <a:r>
              <a:rPr lang="nl-NL" sz="1000" b="1" kern="1200" noProof="0" dirty="0">
                <a:solidFill>
                  <a:schemeClr val="tx1"/>
                </a:solidFill>
                <a:latin typeface="Century Gothic" panose="020B0502020202020204" pitchFamily="34" charset="0"/>
                <a:ea typeface="+mn-ea"/>
                <a:cs typeface="Arial" panose="020B0604020202020204" pitchFamily="34" charset="0"/>
              </a:rPr>
              <a:t> 1x per maand of vaker op andere plekken dan bij vrienden thuis zonder aanwezigheid van volwassenen</a:t>
            </a:r>
          </a:p>
        </p:txBody>
      </p:sp>
      <p:sp>
        <p:nvSpPr>
          <p:cNvPr id="3" name="Grafiek chillen alcohol">
            <a:extLst>
              <a:ext uri="{FF2B5EF4-FFF2-40B4-BE49-F238E27FC236}">
                <a16:creationId xmlns:a16="http://schemas.microsoft.com/office/drawing/2014/main" id="{00D1D884-A52A-52FD-DF81-B99BF44D32F5}"/>
              </a:ext>
            </a:extLst>
          </p:cNvPr>
          <p:cNvSpPr>
            <a:spLocks noGrp="1"/>
          </p:cNvSpPr>
          <p:nvPr>
            <p:ph type="chart" sz="quarter" idx="23"/>
          </p:nvPr>
        </p:nvSpPr>
        <p:spPr>
          <a:xfrm>
            <a:off x="8281181" y="4024800"/>
            <a:ext cx="3456000" cy="2196000"/>
          </a:xfrm>
          <a:prstGeom prst="rect">
            <a:avLst/>
          </a:prstGeom>
        </p:spPr>
        <p:txBody>
          <a:bodyPr/>
          <a:lstStyle>
            <a:lvl1pPr marL="0" indent="0">
              <a:buNone/>
              <a:defRPr sz="3200"/>
            </a:lvl1pPr>
          </a:lstStyle>
          <a:p>
            <a:endParaRPr lang="nl-NL" dirty="0"/>
          </a:p>
        </p:txBody>
      </p:sp>
      <p:sp>
        <p:nvSpPr>
          <p:cNvPr id="8" name="Grafiek laat thuis alcohol">
            <a:extLst>
              <a:ext uri="{FF2B5EF4-FFF2-40B4-BE49-F238E27FC236}">
                <a16:creationId xmlns:a16="http://schemas.microsoft.com/office/drawing/2014/main" id="{A1FC8AB9-282E-4D92-B3FA-720E868B66F1}"/>
              </a:ext>
            </a:extLst>
          </p:cNvPr>
          <p:cNvSpPr>
            <a:spLocks noGrp="1"/>
          </p:cNvSpPr>
          <p:nvPr>
            <p:ph type="chart" sz="quarter" idx="24"/>
          </p:nvPr>
        </p:nvSpPr>
        <p:spPr>
          <a:xfrm>
            <a:off x="8278781" y="1519200"/>
            <a:ext cx="3456000" cy="2196000"/>
          </a:xfrm>
          <a:prstGeom prst="rect">
            <a:avLst/>
          </a:prstGeom>
        </p:spPr>
        <p:txBody>
          <a:bodyPr/>
          <a:lstStyle>
            <a:lvl1pPr marL="0" indent="0">
              <a:buNone/>
              <a:defRPr sz="3200"/>
            </a:lvl1pPr>
          </a:lstStyle>
          <a:p>
            <a:endParaRPr lang="nl-NL"/>
          </a:p>
        </p:txBody>
      </p:sp>
      <p:sp>
        <p:nvSpPr>
          <p:cNvPr id="20" name="Grafiek chillen">
            <a:extLst>
              <a:ext uri="{FF2B5EF4-FFF2-40B4-BE49-F238E27FC236}">
                <a16:creationId xmlns:a16="http://schemas.microsoft.com/office/drawing/2014/main" id="{58E6B01D-B3C3-74CB-BED8-B08EC39AFE2F}"/>
              </a:ext>
            </a:extLst>
          </p:cNvPr>
          <p:cNvSpPr>
            <a:spLocks noGrp="1"/>
          </p:cNvSpPr>
          <p:nvPr>
            <p:ph type="chart" sz="quarter" idx="19"/>
          </p:nvPr>
        </p:nvSpPr>
        <p:spPr>
          <a:xfrm>
            <a:off x="4370400" y="4024800"/>
            <a:ext cx="3456000" cy="2340000"/>
          </a:xfrm>
          <a:prstGeom prst="rect">
            <a:avLst/>
          </a:prstGeom>
        </p:spPr>
        <p:txBody>
          <a:bodyPr/>
          <a:lstStyle>
            <a:lvl1pPr marL="0" indent="0">
              <a:buNone/>
              <a:defRPr sz="3200"/>
            </a:lvl1pPr>
          </a:lstStyle>
          <a:p>
            <a:endParaRPr lang="nl-NL" dirty="0"/>
          </a:p>
        </p:txBody>
      </p:sp>
      <p:sp>
        <p:nvSpPr>
          <p:cNvPr id="2" name="Grafiek laat thuis">
            <a:extLst>
              <a:ext uri="{FF2B5EF4-FFF2-40B4-BE49-F238E27FC236}">
                <a16:creationId xmlns:a16="http://schemas.microsoft.com/office/drawing/2014/main" id="{157FC52C-B520-AA1B-6BE7-58C85C519849}"/>
              </a:ext>
            </a:extLst>
          </p:cNvPr>
          <p:cNvSpPr>
            <a:spLocks noGrp="1"/>
          </p:cNvSpPr>
          <p:nvPr>
            <p:ph type="chart" sz="quarter" idx="17"/>
          </p:nvPr>
        </p:nvSpPr>
        <p:spPr>
          <a:xfrm>
            <a:off x="4368000" y="1519200"/>
            <a:ext cx="3456000" cy="2340000"/>
          </a:xfrm>
          <a:prstGeom prst="rect">
            <a:avLst/>
          </a:prstGeom>
        </p:spPr>
        <p:txBody>
          <a:bodyPr/>
          <a:lstStyle>
            <a:lvl1pPr marL="0" indent="0">
              <a:buNone/>
              <a:defRPr sz="3200"/>
            </a:lvl1pPr>
          </a:lstStyle>
          <a:p>
            <a:endParaRPr lang="nl-NL"/>
          </a:p>
        </p:txBody>
      </p:sp>
      <p:sp>
        <p:nvSpPr>
          <p:cNvPr id="12" name="Percentage chillen anders">
            <a:extLst>
              <a:ext uri="{FF2B5EF4-FFF2-40B4-BE49-F238E27FC236}">
                <a16:creationId xmlns:a16="http://schemas.microsoft.com/office/drawing/2014/main" id="{A7E31DEA-F203-AB52-A60A-08CD2436453A}"/>
              </a:ext>
            </a:extLst>
          </p:cNvPr>
          <p:cNvSpPr>
            <a:spLocks noGrp="1"/>
          </p:cNvSpPr>
          <p:nvPr>
            <p:ph type="body" sz="quarter" idx="22" hasCustomPrompt="1"/>
          </p:nvPr>
        </p:nvSpPr>
        <p:spPr>
          <a:xfrm>
            <a:off x="740390" y="5158663"/>
            <a:ext cx="8382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7" name="Percentage chillen thuis">
            <a:extLst>
              <a:ext uri="{FF2B5EF4-FFF2-40B4-BE49-F238E27FC236}">
                <a16:creationId xmlns:a16="http://schemas.microsoft.com/office/drawing/2014/main" id="{FA447856-458B-A300-6755-E4796EB985F9}"/>
              </a:ext>
            </a:extLst>
          </p:cNvPr>
          <p:cNvSpPr>
            <a:spLocks noGrp="1"/>
          </p:cNvSpPr>
          <p:nvPr>
            <p:ph type="body" sz="quarter" idx="21" hasCustomPrompt="1"/>
          </p:nvPr>
        </p:nvSpPr>
        <p:spPr>
          <a:xfrm>
            <a:off x="740389" y="4010578"/>
            <a:ext cx="8382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5" name="Percentage laat thuis">
            <a:extLst>
              <a:ext uri="{FF2B5EF4-FFF2-40B4-BE49-F238E27FC236}">
                <a16:creationId xmlns:a16="http://schemas.microsoft.com/office/drawing/2014/main" id="{C8EDF682-E7D4-63FC-65E2-29E57DEAA5FB}"/>
              </a:ext>
            </a:extLst>
          </p:cNvPr>
          <p:cNvSpPr>
            <a:spLocks noGrp="1"/>
          </p:cNvSpPr>
          <p:nvPr>
            <p:ph type="body" sz="quarter" idx="20" hasCustomPrompt="1"/>
          </p:nvPr>
        </p:nvSpPr>
        <p:spPr>
          <a:xfrm>
            <a:off x="740389" y="2862493"/>
            <a:ext cx="8382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5242807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ftijdsgenoten 2">
    <p:spTree>
      <p:nvGrpSpPr>
        <p:cNvPr id="1" name=""/>
        <p:cNvGrpSpPr/>
        <p:nvPr/>
      </p:nvGrpSpPr>
      <p:grpSpPr>
        <a:xfrm>
          <a:off x="0" y="0"/>
          <a:ext cx="0" cy="0"/>
          <a:chOff x="0" y="0"/>
          <a:chExt cx="0" cy="0"/>
        </a:xfrm>
      </p:grpSpPr>
      <p:cxnSp>
        <p:nvCxnSpPr>
          <p:cNvPr id="7" name="Rechte verbindingslijn 6">
            <a:extLst>
              <a:ext uri="{FF2B5EF4-FFF2-40B4-BE49-F238E27FC236}">
                <a16:creationId xmlns:a16="http://schemas.microsoft.com/office/drawing/2014/main" id="{C44CBBFF-7408-FC67-1355-DB94C8680A52}"/>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hidden="1">
            <a:extLst>
              <a:ext uri="{FF2B5EF4-FFF2-40B4-BE49-F238E27FC236}">
                <a16:creationId xmlns:a16="http://schemas.microsoft.com/office/drawing/2014/main" id="{DD604396-AE7B-1708-12DC-5D537F2244B4}"/>
              </a:ext>
            </a:extLst>
          </p:cNvPr>
          <p:cNvCxnSpPr>
            <a:cxnSpLocks/>
          </p:cNvCxnSpPr>
          <p:nvPr userDrawn="1"/>
        </p:nvCxnSpPr>
        <p:spPr>
          <a:xfrm flipV="1">
            <a:off x="4140000"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- 2</a:t>
            </a:r>
            <a:endParaRPr lang="nl-NL" sz="1800" b="1" noProof="0" dirty="0">
              <a:latin typeface="Century Gothic" panose="020B0502020202020204" pitchFamily="34" charset="0"/>
            </a:endParaRPr>
          </a:p>
        </p:txBody>
      </p:sp>
      <p:sp>
        <p:nvSpPr>
          <p:cNvPr id="4" name="Tekstvak 3">
            <a:extLst>
              <a:ext uri="{FF2B5EF4-FFF2-40B4-BE49-F238E27FC236}">
                <a16:creationId xmlns:a16="http://schemas.microsoft.com/office/drawing/2014/main" id="{31DE1161-19FB-F452-68B5-16351A66F708}"/>
              </a:ext>
            </a:extLst>
          </p:cNvPr>
          <p:cNvSpPr txBox="1"/>
          <p:nvPr userDrawn="1"/>
        </p:nvSpPr>
        <p:spPr>
          <a:xfrm>
            <a:off x="1527793" y="2965820"/>
            <a:ext cx="2448379" cy="5539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van de ouders heeft contact met (sommige of meerdere) ouders van de vrienden van hun kind</a:t>
            </a:r>
          </a:p>
        </p:txBody>
      </p:sp>
      <p:sp>
        <p:nvSpPr>
          <p:cNvPr id="2" name="TextBox 1">
            <a:extLst>
              <a:ext uri="{FF2B5EF4-FFF2-40B4-BE49-F238E27FC236}">
                <a16:creationId xmlns:a16="http://schemas.microsoft.com/office/drawing/2014/main" id="{6F19E014-4ACE-EB8C-D81A-6956EF3C72F5}"/>
              </a:ext>
            </a:extLst>
          </p:cNvPr>
          <p:cNvSpPr txBox="1"/>
          <p:nvPr userDrawn="1"/>
        </p:nvSpPr>
        <p:spPr>
          <a:xfrm>
            <a:off x="463889" y="1524946"/>
            <a:ext cx="3676286" cy="684803"/>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ysClr val="windowText" lastClr="000000"/>
                </a:solidFill>
                <a:latin typeface="Calibri"/>
              </a:defRPr>
            </a:lvl1pPr>
            <a:lvl2pPr marL="419926" algn="l" defTabSz="839852" rtl="0" eaLnBrk="1" latinLnBrk="0" hangingPunct="1">
              <a:defRPr sz="1653" kern="1200">
                <a:solidFill>
                  <a:sysClr val="windowText" lastClr="000000"/>
                </a:solidFill>
                <a:latin typeface="Calibri"/>
              </a:defRPr>
            </a:lvl2pPr>
            <a:lvl3pPr marL="839852" algn="l" defTabSz="839852" rtl="0" eaLnBrk="1" latinLnBrk="0" hangingPunct="1">
              <a:defRPr sz="1653" kern="1200">
                <a:solidFill>
                  <a:sysClr val="windowText" lastClr="000000"/>
                </a:solidFill>
                <a:latin typeface="Calibri"/>
              </a:defRPr>
            </a:lvl3pPr>
            <a:lvl4pPr marL="1259779" algn="l" defTabSz="839852" rtl="0" eaLnBrk="1" latinLnBrk="0" hangingPunct="1">
              <a:defRPr sz="1653" kern="1200">
                <a:solidFill>
                  <a:sysClr val="windowText" lastClr="000000"/>
                </a:solidFill>
                <a:latin typeface="Calibri"/>
              </a:defRPr>
            </a:lvl4pPr>
            <a:lvl5pPr marL="1679704" algn="l" defTabSz="839852" rtl="0" eaLnBrk="1" latinLnBrk="0" hangingPunct="1">
              <a:defRPr sz="1653" kern="1200">
                <a:solidFill>
                  <a:sysClr val="windowText" lastClr="000000"/>
                </a:solidFill>
                <a:latin typeface="Calibri"/>
              </a:defRPr>
            </a:lvl5pPr>
            <a:lvl6pPr marL="2099630" algn="l" defTabSz="839852" rtl="0" eaLnBrk="1" latinLnBrk="0" hangingPunct="1">
              <a:defRPr sz="1653" kern="1200">
                <a:solidFill>
                  <a:sysClr val="windowText" lastClr="000000"/>
                </a:solidFill>
                <a:latin typeface="Calibri"/>
              </a:defRPr>
            </a:lvl6pPr>
            <a:lvl7pPr marL="2519556" algn="l" defTabSz="839852" rtl="0" eaLnBrk="1" latinLnBrk="0" hangingPunct="1">
              <a:defRPr sz="1653" kern="1200">
                <a:solidFill>
                  <a:sysClr val="windowText" lastClr="000000"/>
                </a:solidFill>
                <a:latin typeface="Calibri"/>
              </a:defRPr>
            </a:lvl7pPr>
            <a:lvl8pPr marL="2939482" algn="l" defTabSz="839852" rtl="0" eaLnBrk="1" latinLnBrk="0" hangingPunct="1">
              <a:defRPr sz="1653" kern="1200">
                <a:solidFill>
                  <a:sysClr val="windowText" lastClr="000000"/>
                </a:solidFill>
                <a:latin typeface="Calibri"/>
              </a:defRPr>
            </a:lvl8pPr>
            <a:lvl9pPr marL="3359408" algn="l" defTabSz="839852" rtl="0" eaLnBrk="1" latinLnBrk="0" hangingPunct="1">
              <a:defRPr sz="1653" kern="1200">
                <a:solidFill>
                  <a:sysClr val="windowText" lastClr="000000"/>
                </a:solidFill>
                <a:latin typeface="Calibri"/>
              </a:defRPr>
            </a:lvl9pPr>
          </a:lstStyle>
          <a:p>
            <a:r>
              <a:rPr lang="nl-NL" sz="1000" b="0" i="0" dirty="0">
                <a:solidFill>
                  <a:srgbClr val="000000"/>
                </a:solidFill>
                <a:effectLst/>
                <a:latin typeface="Century Gothic" panose="020B0502020202020204" pitchFamily="34" charset="0"/>
              </a:rPr>
              <a:t>De kans dat jongeren middelen gaan gebruiken, is kleiner als hun ouders de ouders van de vrienden kennen en met hen afspraken maken over bijvoorbeeld het middelengebruik van hun kinderen.</a:t>
            </a:r>
          </a:p>
        </p:txBody>
      </p:sp>
      <p:sp>
        <p:nvSpPr>
          <p:cNvPr id="19" name="Grafiek alcohol ouders">
            <a:extLst>
              <a:ext uri="{FF2B5EF4-FFF2-40B4-BE49-F238E27FC236}">
                <a16:creationId xmlns:a16="http://schemas.microsoft.com/office/drawing/2014/main" id="{32F134F1-45F3-A56E-9038-F92D47EA0A46}"/>
              </a:ext>
            </a:extLst>
          </p:cNvPr>
          <p:cNvSpPr>
            <a:spLocks noGrp="1"/>
          </p:cNvSpPr>
          <p:nvPr>
            <p:ph type="chart" sz="quarter" idx="17"/>
          </p:nvPr>
        </p:nvSpPr>
        <p:spPr>
          <a:xfrm>
            <a:off x="8278781" y="4024800"/>
            <a:ext cx="3456000" cy="2340000"/>
          </a:xfrm>
          <a:prstGeom prst="rect">
            <a:avLst/>
          </a:prstGeom>
        </p:spPr>
        <p:txBody>
          <a:bodyPr/>
          <a:lstStyle>
            <a:lvl1pPr marL="0" indent="0">
              <a:buNone/>
              <a:defRPr sz="3200"/>
            </a:lvl1pPr>
          </a:lstStyle>
          <a:p>
            <a:endParaRPr lang="nl-NL"/>
          </a:p>
        </p:txBody>
      </p:sp>
      <p:sp>
        <p:nvSpPr>
          <p:cNvPr id="22" name="Grafiek afspraken alcohol">
            <a:extLst>
              <a:ext uri="{FF2B5EF4-FFF2-40B4-BE49-F238E27FC236}">
                <a16:creationId xmlns:a16="http://schemas.microsoft.com/office/drawing/2014/main" id="{8927A105-2FB9-7D11-40DE-61B54C218EB8}"/>
              </a:ext>
            </a:extLst>
          </p:cNvPr>
          <p:cNvSpPr>
            <a:spLocks noGrp="1"/>
          </p:cNvSpPr>
          <p:nvPr>
            <p:ph type="chart" sz="quarter" idx="16"/>
          </p:nvPr>
        </p:nvSpPr>
        <p:spPr>
          <a:xfrm>
            <a:off x="8278781" y="1519200"/>
            <a:ext cx="3456000" cy="2340000"/>
          </a:xfrm>
          <a:prstGeom prst="rect">
            <a:avLst/>
          </a:prstGeom>
        </p:spPr>
        <p:txBody>
          <a:bodyPr/>
          <a:lstStyle>
            <a:lvl1pPr marL="0" indent="0">
              <a:buNone/>
              <a:defRPr sz="3200"/>
            </a:lvl1pPr>
          </a:lstStyle>
          <a:p>
            <a:endParaRPr lang="nl-NL"/>
          </a:p>
        </p:txBody>
      </p:sp>
      <p:sp>
        <p:nvSpPr>
          <p:cNvPr id="23" name="Grafiek ouders afspraken">
            <a:extLst>
              <a:ext uri="{FF2B5EF4-FFF2-40B4-BE49-F238E27FC236}">
                <a16:creationId xmlns:a16="http://schemas.microsoft.com/office/drawing/2014/main" id="{E4AB63F7-4C6C-2EBF-E8D7-FBB386352204}"/>
              </a:ext>
            </a:extLst>
          </p:cNvPr>
          <p:cNvSpPr>
            <a:spLocks noGrp="1"/>
          </p:cNvSpPr>
          <p:nvPr>
            <p:ph type="chart" sz="quarter" idx="19"/>
          </p:nvPr>
        </p:nvSpPr>
        <p:spPr>
          <a:xfrm>
            <a:off x="463893" y="4420800"/>
            <a:ext cx="7360977" cy="1980000"/>
          </a:xfrm>
          <a:prstGeom prst="rect">
            <a:avLst/>
          </a:prstGeom>
        </p:spPr>
        <p:txBody>
          <a:bodyPr/>
          <a:lstStyle>
            <a:lvl1pPr marL="0" indent="0">
              <a:buNone/>
              <a:defRPr sz="3200"/>
            </a:lvl1pPr>
          </a:lstStyle>
          <a:p>
            <a:endParaRPr lang="nl-NL" dirty="0"/>
          </a:p>
        </p:txBody>
      </p:sp>
      <p:sp>
        <p:nvSpPr>
          <p:cNvPr id="24" name="Grafiek ouders contacten">
            <a:extLst>
              <a:ext uri="{FF2B5EF4-FFF2-40B4-BE49-F238E27FC236}">
                <a16:creationId xmlns:a16="http://schemas.microsoft.com/office/drawing/2014/main" id="{6E66AB55-227B-CE36-7E38-E5FA74E13257}"/>
              </a:ext>
            </a:extLst>
          </p:cNvPr>
          <p:cNvSpPr>
            <a:spLocks noGrp="1"/>
          </p:cNvSpPr>
          <p:nvPr>
            <p:ph type="chart" sz="quarter" idx="20"/>
          </p:nvPr>
        </p:nvSpPr>
        <p:spPr>
          <a:xfrm>
            <a:off x="4370400" y="1519200"/>
            <a:ext cx="3456000" cy="2592000"/>
          </a:xfrm>
          <a:prstGeom prst="rect">
            <a:avLst/>
          </a:prstGeom>
        </p:spPr>
        <p:txBody>
          <a:bodyPr/>
          <a:lstStyle>
            <a:lvl1pPr marL="0" indent="0">
              <a:buNone/>
              <a:defRPr sz="3200"/>
            </a:lvl1pPr>
          </a:lstStyle>
          <a:p>
            <a:endParaRPr lang="nl-NL" dirty="0"/>
          </a:p>
          <a:p>
            <a:endParaRPr lang="nl-NL" dirty="0"/>
          </a:p>
        </p:txBody>
      </p:sp>
      <p:sp>
        <p:nvSpPr>
          <p:cNvPr id="5" name="Percentage ouders contacten">
            <a:extLst>
              <a:ext uri="{FF2B5EF4-FFF2-40B4-BE49-F238E27FC236}">
                <a16:creationId xmlns:a16="http://schemas.microsoft.com/office/drawing/2014/main" id="{1B2381A6-D792-7218-964A-4EEB1B9CC22D}"/>
              </a:ext>
            </a:extLst>
          </p:cNvPr>
          <p:cNvSpPr>
            <a:spLocks noGrp="1"/>
          </p:cNvSpPr>
          <p:nvPr>
            <p:ph type="body" sz="quarter" idx="13" hasCustomPrompt="1"/>
          </p:nvPr>
        </p:nvSpPr>
        <p:spPr>
          <a:xfrm>
            <a:off x="688993" y="2823719"/>
            <a:ext cx="838800" cy="838200"/>
          </a:xfrm>
          <a:prstGeom prst="ellipse">
            <a:avLst/>
          </a:prstGeom>
          <a:solidFill>
            <a:schemeClr val="accent1"/>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Tree>
    <p:extLst>
      <p:ext uri="{BB962C8B-B14F-4D97-AF65-F5344CB8AC3E}">
        <p14:creationId xmlns:p14="http://schemas.microsoft.com/office/powerpoint/2010/main" val="41527377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eftijdsgenoten 3">
    <p:spTree>
      <p:nvGrpSpPr>
        <p:cNvPr id="1" name=""/>
        <p:cNvGrpSpPr/>
        <p:nvPr/>
      </p:nvGrpSpPr>
      <p:grpSpPr>
        <a:xfrm>
          <a:off x="0" y="0"/>
          <a:ext cx="0" cy="0"/>
          <a:chOff x="0" y="0"/>
          <a:chExt cx="0" cy="0"/>
        </a:xfrm>
      </p:grpSpPr>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cxnSp>
        <p:nvCxnSpPr>
          <p:cNvPr id="7" name="Rechte verbindingslijn 6">
            <a:extLst>
              <a:ext uri="{FF2B5EF4-FFF2-40B4-BE49-F238E27FC236}">
                <a16:creationId xmlns:a16="http://schemas.microsoft.com/office/drawing/2014/main" id="{4467DF28-8F2C-72F4-D878-946364F6E2C3}"/>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0" name="Rechte verbindingslijn 19">
            <a:extLst>
              <a:ext uri="{FF2B5EF4-FFF2-40B4-BE49-F238E27FC236}">
                <a16:creationId xmlns:a16="http://schemas.microsoft.com/office/drawing/2014/main" id="{3225D304-6E5E-946E-2D93-5C9A280E58B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- 3</a:t>
            </a:r>
          </a:p>
        </p:txBody>
      </p:sp>
      <p:sp>
        <p:nvSpPr>
          <p:cNvPr id="2" name="TextBox 1">
            <a:extLst>
              <a:ext uri="{FF2B5EF4-FFF2-40B4-BE49-F238E27FC236}">
                <a16:creationId xmlns:a16="http://schemas.microsoft.com/office/drawing/2014/main" id="{5B3E4CA9-82B1-A3B3-92A5-A131A90967E0}"/>
              </a:ext>
            </a:extLst>
          </p:cNvPr>
          <p:cNvSpPr txBox="1"/>
          <p:nvPr userDrawn="1"/>
        </p:nvSpPr>
        <p:spPr>
          <a:xfrm>
            <a:off x="463889" y="1524946"/>
            <a:ext cx="3447590" cy="1454244"/>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ysClr val="windowText" lastClr="000000"/>
                </a:solidFill>
                <a:latin typeface="Calibri"/>
              </a:defRPr>
            </a:lvl1pPr>
            <a:lvl2pPr marL="419926" algn="l" defTabSz="839852" rtl="0" eaLnBrk="1" latinLnBrk="0" hangingPunct="1">
              <a:defRPr sz="1653" kern="1200">
                <a:solidFill>
                  <a:sysClr val="windowText" lastClr="000000"/>
                </a:solidFill>
                <a:latin typeface="Calibri"/>
              </a:defRPr>
            </a:lvl2pPr>
            <a:lvl3pPr marL="839852" algn="l" defTabSz="839852" rtl="0" eaLnBrk="1" latinLnBrk="0" hangingPunct="1">
              <a:defRPr sz="1653" kern="1200">
                <a:solidFill>
                  <a:sysClr val="windowText" lastClr="000000"/>
                </a:solidFill>
                <a:latin typeface="Calibri"/>
              </a:defRPr>
            </a:lvl3pPr>
            <a:lvl4pPr marL="1259779" algn="l" defTabSz="839852" rtl="0" eaLnBrk="1" latinLnBrk="0" hangingPunct="1">
              <a:defRPr sz="1653" kern="1200">
                <a:solidFill>
                  <a:sysClr val="windowText" lastClr="000000"/>
                </a:solidFill>
                <a:latin typeface="Calibri"/>
              </a:defRPr>
            </a:lvl4pPr>
            <a:lvl5pPr marL="1679704" algn="l" defTabSz="839852" rtl="0" eaLnBrk="1" latinLnBrk="0" hangingPunct="1">
              <a:defRPr sz="1653" kern="1200">
                <a:solidFill>
                  <a:sysClr val="windowText" lastClr="000000"/>
                </a:solidFill>
                <a:latin typeface="Calibri"/>
              </a:defRPr>
            </a:lvl5pPr>
            <a:lvl6pPr marL="2099630" algn="l" defTabSz="839852" rtl="0" eaLnBrk="1" latinLnBrk="0" hangingPunct="1">
              <a:defRPr sz="1653" kern="1200">
                <a:solidFill>
                  <a:sysClr val="windowText" lastClr="000000"/>
                </a:solidFill>
                <a:latin typeface="Calibri"/>
              </a:defRPr>
            </a:lvl6pPr>
            <a:lvl7pPr marL="2519556" algn="l" defTabSz="839852" rtl="0" eaLnBrk="1" latinLnBrk="0" hangingPunct="1">
              <a:defRPr sz="1653" kern="1200">
                <a:solidFill>
                  <a:sysClr val="windowText" lastClr="000000"/>
                </a:solidFill>
                <a:latin typeface="Calibri"/>
              </a:defRPr>
            </a:lvl7pPr>
            <a:lvl8pPr marL="2939482" algn="l" defTabSz="839852" rtl="0" eaLnBrk="1" latinLnBrk="0" hangingPunct="1">
              <a:defRPr sz="1653" kern="1200">
                <a:solidFill>
                  <a:sysClr val="windowText" lastClr="000000"/>
                </a:solidFill>
                <a:latin typeface="Calibri"/>
              </a:defRPr>
            </a:lvl8pPr>
            <a:lvl9pPr marL="3359408" algn="l" defTabSz="839852" rtl="0" eaLnBrk="1" latinLnBrk="0" hangingPunct="1">
              <a:defRPr sz="1653" kern="1200">
                <a:solidFill>
                  <a:sysClr val="windowText" lastClr="000000"/>
                </a:solidFill>
                <a:latin typeface="Calibri"/>
              </a:defRPr>
            </a:lvl9pPr>
          </a:lstStyle>
          <a:p>
            <a:pPr>
              <a:buNone/>
            </a:pPr>
            <a:r>
              <a:rPr lang="nl-NL" sz="1000" b="0" i="0" dirty="0">
                <a:solidFill>
                  <a:srgbClr val="000000"/>
                </a:solidFill>
                <a:effectLst/>
                <a:latin typeface="Century Gothic" panose="020B0502020202020204" pitchFamily="34" charset="0"/>
              </a:rPr>
              <a:t>Wanneer jongeren zich gesteund voelen door vrienden en deel uitmaken van een positieve sociale groep, draagt dat bij aan gezond gedrag en welzijn.</a:t>
            </a:r>
          </a:p>
          <a:p>
            <a:pPr>
              <a:buNone/>
            </a:pPr>
            <a:endParaRPr lang="nl-NL" sz="1000" b="0" i="0" dirty="0">
              <a:solidFill>
                <a:srgbClr val="000000"/>
              </a:solidFill>
              <a:effectLst/>
              <a:latin typeface="Century Gothic" panose="020B0502020202020204" pitchFamily="34" charset="0"/>
            </a:endParaRPr>
          </a:p>
          <a:p>
            <a:pPr>
              <a:buNone/>
            </a:pPr>
            <a:r>
              <a:rPr lang="nl-NL" sz="1000" b="0" i="0" dirty="0">
                <a:solidFill>
                  <a:srgbClr val="000000"/>
                </a:solidFill>
                <a:effectLst/>
                <a:latin typeface="Century Gothic" panose="020B0502020202020204" pitchFamily="34" charset="0"/>
              </a:rPr>
              <a:t>Tegelijkertijd kunnen leeftijdsgenoten ook een risicofactor vormen, vooral als er sprake is van normafwijkend gedrag zoals het gebruik van alcohol, tabak of drugs. Jongeren laten zich in zulke gevallen eerder verleiden tot experimenteren.</a:t>
            </a:r>
          </a:p>
        </p:txBody>
      </p:sp>
      <p:sp>
        <p:nvSpPr>
          <p:cNvPr id="3" name="Grafiek vrienden blowen">
            <a:extLst>
              <a:ext uri="{FF2B5EF4-FFF2-40B4-BE49-F238E27FC236}">
                <a16:creationId xmlns:a16="http://schemas.microsoft.com/office/drawing/2014/main" id="{A2687672-9964-D557-D860-28C67812CCA5}"/>
              </a:ext>
            </a:extLst>
          </p:cNvPr>
          <p:cNvSpPr>
            <a:spLocks noGrp="1"/>
          </p:cNvSpPr>
          <p:nvPr>
            <p:ph type="chart" sz="quarter" idx="17"/>
          </p:nvPr>
        </p:nvSpPr>
        <p:spPr>
          <a:xfrm>
            <a:off x="8278781" y="4024800"/>
            <a:ext cx="3456000" cy="2196000"/>
          </a:xfrm>
          <a:prstGeom prst="rect">
            <a:avLst/>
          </a:prstGeom>
        </p:spPr>
        <p:txBody>
          <a:bodyPr/>
          <a:lstStyle>
            <a:lvl1pPr marL="0" indent="0">
              <a:buNone/>
              <a:defRPr sz="3200"/>
            </a:lvl1pPr>
          </a:lstStyle>
          <a:p>
            <a:endParaRPr lang="nl-NL"/>
          </a:p>
        </p:txBody>
      </p:sp>
      <p:sp>
        <p:nvSpPr>
          <p:cNvPr id="4" name="Grafiek vrienden roken">
            <a:extLst>
              <a:ext uri="{FF2B5EF4-FFF2-40B4-BE49-F238E27FC236}">
                <a16:creationId xmlns:a16="http://schemas.microsoft.com/office/drawing/2014/main" id="{69546AAF-C443-7F8C-3755-18DF276F3471}"/>
              </a:ext>
            </a:extLst>
          </p:cNvPr>
          <p:cNvSpPr>
            <a:spLocks noGrp="1"/>
          </p:cNvSpPr>
          <p:nvPr>
            <p:ph type="chart" sz="quarter" idx="16"/>
          </p:nvPr>
        </p:nvSpPr>
        <p:spPr>
          <a:xfrm>
            <a:off x="8278781" y="1519200"/>
            <a:ext cx="3456000" cy="2196000"/>
          </a:xfrm>
          <a:prstGeom prst="rect">
            <a:avLst/>
          </a:prstGeom>
        </p:spPr>
        <p:txBody>
          <a:bodyPr/>
          <a:lstStyle>
            <a:lvl1pPr marL="0" indent="0">
              <a:buNone/>
              <a:defRPr sz="3200"/>
            </a:lvl1pPr>
          </a:lstStyle>
          <a:p>
            <a:endParaRPr lang="nl-NL"/>
          </a:p>
        </p:txBody>
      </p:sp>
      <p:sp>
        <p:nvSpPr>
          <p:cNvPr id="6" name="Grafiek vrienden vapen">
            <a:extLst>
              <a:ext uri="{FF2B5EF4-FFF2-40B4-BE49-F238E27FC236}">
                <a16:creationId xmlns:a16="http://schemas.microsoft.com/office/drawing/2014/main" id="{24DCBB42-47D4-B9F1-BDDC-A9E5DEC5E50C}"/>
              </a:ext>
            </a:extLst>
          </p:cNvPr>
          <p:cNvSpPr>
            <a:spLocks noGrp="1"/>
          </p:cNvSpPr>
          <p:nvPr>
            <p:ph type="chart" sz="quarter" idx="20"/>
          </p:nvPr>
        </p:nvSpPr>
        <p:spPr>
          <a:xfrm>
            <a:off x="4368870" y="4024800"/>
            <a:ext cx="3456000" cy="2196000"/>
          </a:xfrm>
          <a:prstGeom prst="rect">
            <a:avLst/>
          </a:prstGeom>
        </p:spPr>
        <p:txBody>
          <a:bodyPr/>
          <a:lstStyle>
            <a:lvl1pPr marL="0" indent="0">
              <a:buNone/>
              <a:defRPr sz="3200"/>
            </a:lvl1pPr>
          </a:lstStyle>
          <a:p>
            <a:endParaRPr lang="nl-NL" dirty="0"/>
          </a:p>
        </p:txBody>
      </p:sp>
      <p:sp>
        <p:nvSpPr>
          <p:cNvPr id="5" name="Grafiek vrienden alcohol">
            <a:extLst>
              <a:ext uri="{FF2B5EF4-FFF2-40B4-BE49-F238E27FC236}">
                <a16:creationId xmlns:a16="http://schemas.microsoft.com/office/drawing/2014/main" id="{B4A12C97-F124-01C8-F5B9-A2E73D83D531}"/>
              </a:ext>
            </a:extLst>
          </p:cNvPr>
          <p:cNvSpPr>
            <a:spLocks noGrp="1"/>
          </p:cNvSpPr>
          <p:nvPr>
            <p:ph type="chart" sz="quarter" idx="19"/>
          </p:nvPr>
        </p:nvSpPr>
        <p:spPr>
          <a:xfrm>
            <a:off x="4367128" y="1519200"/>
            <a:ext cx="3456000" cy="2196000"/>
          </a:xfrm>
          <a:prstGeom prst="rect">
            <a:avLst/>
          </a:prstGeom>
        </p:spPr>
        <p:txBody>
          <a:bodyPr/>
          <a:lstStyle>
            <a:lvl1pPr marL="0" indent="0">
              <a:buNone/>
              <a:defRPr sz="3200"/>
            </a:lvl1pPr>
          </a:lstStyle>
          <a:p>
            <a:endParaRPr lang="nl-NL" dirty="0"/>
          </a:p>
        </p:txBody>
      </p:sp>
      <p:sp>
        <p:nvSpPr>
          <p:cNvPr id="8" name="Toevoeging">
            <a:extLst>
              <a:ext uri="{FF2B5EF4-FFF2-40B4-BE49-F238E27FC236}">
                <a16:creationId xmlns:a16="http://schemas.microsoft.com/office/drawing/2014/main" id="{6C3CADC8-EEAB-828D-62BC-6CA67D8282C1}"/>
              </a:ext>
            </a:extLst>
          </p:cNvPr>
          <p:cNvSpPr>
            <a:spLocks noGrp="1"/>
          </p:cNvSpPr>
          <p:nvPr>
            <p:ph type="chart" sz="quarter" idx="21"/>
          </p:nvPr>
        </p:nvSpPr>
        <p:spPr>
          <a:xfrm>
            <a:off x="455479" y="4024800"/>
            <a:ext cx="3456000" cy="2196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9093634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eftijdsgenoten 4">
    <p:spTree>
      <p:nvGrpSpPr>
        <p:cNvPr id="1" name=""/>
        <p:cNvGrpSpPr/>
        <p:nvPr/>
      </p:nvGrpSpPr>
      <p:grpSpPr>
        <a:xfrm>
          <a:off x="0" y="0"/>
          <a:ext cx="0" cy="0"/>
          <a:chOff x="0" y="0"/>
          <a:chExt cx="0" cy="0"/>
        </a:xfrm>
      </p:grpSpPr>
      <p:sp>
        <p:nvSpPr>
          <p:cNvPr id="38" name="Rechthoek 37" hidden="1">
            <a:extLst>
              <a:ext uri="{FF2B5EF4-FFF2-40B4-BE49-F238E27FC236}">
                <a16:creationId xmlns:a16="http://schemas.microsoft.com/office/drawing/2014/main" id="{71B6D817-B6BD-5D3B-C482-2942CE54FB52}"/>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0" name="Rechthoek 39" hidden="1">
            <a:extLst>
              <a:ext uri="{FF2B5EF4-FFF2-40B4-BE49-F238E27FC236}">
                <a16:creationId xmlns:a16="http://schemas.microsoft.com/office/drawing/2014/main" id="{DA25F52B-68C7-5049-CD59-306C46906407}"/>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41" name="Rechthoek 40" hidden="1">
            <a:extLst>
              <a:ext uri="{FF2B5EF4-FFF2-40B4-BE49-F238E27FC236}">
                <a16:creationId xmlns:a16="http://schemas.microsoft.com/office/drawing/2014/main" id="{810F9007-0225-12FD-9C82-0980B9351E10}"/>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Rectangle 16">
            <a:extLst>
              <a:ext uri="{FF2B5EF4-FFF2-40B4-BE49-F238E27FC236}">
                <a16:creationId xmlns:a16="http://schemas.microsoft.com/office/drawing/2014/main" id="{50E25E35-8B3C-6C74-2AD7-DAFDA89C0A01}"/>
              </a:ext>
            </a:extLst>
          </p:cNvPr>
          <p:cNvSpPr>
            <a:spLocks/>
          </p:cNvSpPr>
          <p:nvPr userDrawn="1"/>
        </p:nvSpPr>
        <p:spPr>
          <a:xfrm rot="10800000" flipH="1">
            <a:off x="9719595" y="0"/>
            <a:ext cx="576000" cy="10668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17" name="Rectangle 16">
            <a:extLst>
              <a:ext uri="{FF2B5EF4-FFF2-40B4-BE49-F238E27FC236}">
                <a16:creationId xmlns:a16="http://schemas.microsoft.com/office/drawing/2014/main" id="{048B55B4-D6BF-8A04-5D90-9A498A5AC6B5}"/>
              </a:ext>
            </a:extLst>
          </p:cNvPr>
          <p:cNvSpPr/>
          <p:nvPr userDrawn="1"/>
        </p:nvSpPr>
        <p:spPr>
          <a:xfrm>
            <a:off x="0" y="0"/>
            <a:ext cx="9719589" cy="106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270272" algn="l"/>
            <a:r>
              <a:rPr lang="nl-NL" sz="2400" b="1" noProof="0" dirty="0">
                <a:latin typeface="Century Gothic" panose="020B0502020202020204" pitchFamily="34" charset="0"/>
              </a:rPr>
              <a:t>Leeftijdsgenoten - 4</a:t>
            </a:r>
            <a:endParaRPr lang="nl-NL" sz="1800" b="1" noProof="0" dirty="0">
              <a:latin typeface="Century Gothic" panose="020B0502020202020204" pitchFamily="34" charset="0"/>
            </a:endParaRPr>
          </a:p>
        </p:txBody>
      </p:sp>
      <p:cxnSp>
        <p:nvCxnSpPr>
          <p:cNvPr id="3" name="Rechte verbindingslijn 2">
            <a:extLst>
              <a:ext uri="{FF2B5EF4-FFF2-40B4-BE49-F238E27FC236}">
                <a16:creationId xmlns:a16="http://schemas.microsoft.com/office/drawing/2014/main" id="{9B333757-FC6B-5FAF-4B3F-FF9FDD916C55}"/>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4" name="Rechte verbindingslijn 3">
            <a:extLst>
              <a:ext uri="{FF2B5EF4-FFF2-40B4-BE49-F238E27FC236}">
                <a16:creationId xmlns:a16="http://schemas.microsoft.com/office/drawing/2014/main" id="{7015460D-91E7-0B9B-6BB3-D4DD396F8557}"/>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 name="Tekst alcohol">
            <a:extLst>
              <a:ext uri="{FF2B5EF4-FFF2-40B4-BE49-F238E27FC236}">
                <a16:creationId xmlns:a16="http://schemas.microsoft.com/office/drawing/2014/main" id="{673E3B48-B209-410C-5AB9-FE50EB552FBA}"/>
              </a:ext>
            </a:extLst>
          </p:cNvPr>
          <p:cNvSpPr txBox="1"/>
          <p:nvPr userDrawn="1"/>
        </p:nvSpPr>
        <p:spPr>
          <a:xfrm>
            <a:off x="457219" y="1519201"/>
            <a:ext cx="3453296" cy="861774"/>
          </a:xfrm>
          <a:prstGeom prst="rect">
            <a:avLst/>
          </a:prstGeom>
          <a:noFill/>
        </p:spPr>
        <p:txBody>
          <a:bodyPr wrap="square">
            <a:spAutoFit/>
          </a:bodyPr>
          <a:lstStyle/>
          <a:p>
            <a:r>
              <a:rPr lang="nl-NL" sz="1000" dirty="0">
                <a:solidFill>
                  <a:schemeClr val="tx1"/>
                </a:solidFill>
                <a:latin typeface="Century Gothic" panose="020B0502020202020204" pitchFamily="34" charset="0"/>
              </a:rPr>
              <a:t>Gepest worden heeft invloed op het gevoel van veiligheid. Gepest worden heeft diverse negatieve gevolgen; voor de lichamelijke en emotionele gezondheid, voor schoolprestaties maar ook de motivatie om naar school te gaan.</a:t>
            </a:r>
          </a:p>
        </p:txBody>
      </p:sp>
      <p:sp>
        <p:nvSpPr>
          <p:cNvPr id="15" name="Grafiek pesten klas">
            <a:extLst>
              <a:ext uri="{FF2B5EF4-FFF2-40B4-BE49-F238E27FC236}">
                <a16:creationId xmlns:a16="http://schemas.microsoft.com/office/drawing/2014/main" id="{D435C6E9-14AD-7784-95DB-A56F07558393}"/>
              </a:ext>
            </a:extLst>
          </p:cNvPr>
          <p:cNvSpPr>
            <a:spLocks noGrp="1"/>
          </p:cNvSpPr>
          <p:nvPr>
            <p:ph type="chart" sz="quarter" idx="17"/>
          </p:nvPr>
        </p:nvSpPr>
        <p:spPr>
          <a:xfrm>
            <a:off x="4366164" y="1519200"/>
            <a:ext cx="3456000" cy="2340000"/>
          </a:xfrm>
          <a:prstGeom prst="rect">
            <a:avLst/>
          </a:prstGeom>
        </p:spPr>
        <p:txBody>
          <a:bodyPr/>
          <a:lstStyle>
            <a:lvl1pPr marL="0" indent="0">
              <a:buNone/>
              <a:defRPr sz="3200"/>
            </a:lvl1pPr>
          </a:lstStyle>
          <a:p>
            <a:endParaRPr lang="nl-NL"/>
          </a:p>
        </p:txBody>
      </p:sp>
      <p:sp>
        <p:nvSpPr>
          <p:cNvPr id="16" name="Grafiek pesten mentaal">
            <a:extLst>
              <a:ext uri="{FF2B5EF4-FFF2-40B4-BE49-F238E27FC236}">
                <a16:creationId xmlns:a16="http://schemas.microsoft.com/office/drawing/2014/main" id="{0F9F9524-C1C6-04F7-8DFD-6BCBFD4AD607}"/>
              </a:ext>
            </a:extLst>
          </p:cNvPr>
          <p:cNvSpPr>
            <a:spLocks noGrp="1"/>
          </p:cNvSpPr>
          <p:nvPr>
            <p:ph type="chart" sz="quarter" idx="16"/>
          </p:nvPr>
        </p:nvSpPr>
        <p:spPr>
          <a:xfrm>
            <a:off x="8278781" y="1663200"/>
            <a:ext cx="3456000" cy="2196000"/>
          </a:xfrm>
          <a:prstGeom prst="rect">
            <a:avLst/>
          </a:prstGeom>
        </p:spPr>
        <p:txBody>
          <a:bodyPr/>
          <a:lstStyle>
            <a:lvl1pPr marL="0" indent="0">
              <a:buNone/>
              <a:defRPr sz="3200"/>
            </a:lvl1pPr>
          </a:lstStyle>
          <a:p>
            <a:endParaRPr lang="nl-NL"/>
          </a:p>
        </p:txBody>
      </p:sp>
      <p:sp>
        <p:nvSpPr>
          <p:cNvPr id="19" name="Grafiek pesten locatie">
            <a:extLst>
              <a:ext uri="{FF2B5EF4-FFF2-40B4-BE49-F238E27FC236}">
                <a16:creationId xmlns:a16="http://schemas.microsoft.com/office/drawing/2014/main" id="{3832F18D-C614-9B3F-A22E-0E2F382569E0}"/>
              </a:ext>
            </a:extLst>
          </p:cNvPr>
          <p:cNvSpPr>
            <a:spLocks noGrp="1"/>
          </p:cNvSpPr>
          <p:nvPr>
            <p:ph type="chart" sz="quarter" idx="21"/>
          </p:nvPr>
        </p:nvSpPr>
        <p:spPr>
          <a:xfrm>
            <a:off x="4368870" y="4024800"/>
            <a:ext cx="3456000" cy="2340000"/>
          </a:xfrm>
          <a:prstGeom prst="rect">
            <a:avLst/>
          </a:prstGeom>
        </p:spPr>
        <p:txBody>
          <a:bodyPr/>
          <a:lstStyle>
            <a:lvl1pPr marL="0" indent="0">
              <a:buNone/>
              <a:defRPr sz="3200"/>
            </a:lvl1pPr>
          </a:lstStyle>
          <a:p>
            <a:endParaRPr lang="nl-NL" dirty="0"/>
          </a:p>
        </p:txBody>
      </p:sp>
      <p:sp>
        <p:nvSpPr>
          <p:cNvPr id="2" name="Grafiek pesten">
            <a:extLst>
              <a:ext uri="{FF2B5EF4-FFF2-40B4-BE49-F238E27FC236}">
                <a16:creationId xmlns:a16="http://schemas.microsoft.com/office/drawing/2014/main" id="{913ABEEB-25D3-7458-1C37-7796E8F70892}"/>
              </a:ext>
            </a:extLst>
          </p:cNvPr>
          <p:cNvSpPr>
            <a:spLocks noGrp="1"/>
          </p:cNvSpPr>
          <p:nvPr>
            <p:ph type="chart" sz="quarter" idx="22"/>
          </p:nvPr>
        </p:nvSpPr>
        <p:spPr>
          <a:xfrm>
            <a:off x="454515"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20833516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rije tijd">
    <p:spTree>
      <p:nvGrpSpPr>
        <p:cNvPr id="1" name=""/>
        <p:cNvGrpSpPr/>
        <p:nvPr/>
      </p:nvGrpSpPr>
      <p:grpSpPr>
        <a:xfrm>
          <a:off x="0" y="0"/>
          <a:ext cx="0" cy="0"/>
          <a:chOff x="0" y="0"/>
          <a:chExt cx="0" cy="0"/>
        </a:xfrm>
      </p:grpSpPr>
      <p:cxnSp>
        <p:nvCxnSpPr>
          <p:cNvPr id="7" name="Rechter scheidingslijn">
            <a:extLst>
              <a:ext uri="{FF2B5EF4-FFF2-40B4-BE49-F238E27FC236}">
                <a16:creationId xmlns:a16="http://schemas.microsoft.com/office/drawing/2014/main" id="{58C83113-3A5B-17D7-9C48-DD0335500300}"/>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4" name="Linker scheidingslijn">
            <a:extLst>
              <a:ext uri="{FF2B5EF4-FFF2-40B4-BE49-F238E27FC236}">
                <a16:creationId xmlns:a16="http://schemas.microsoft.com/office/drawing/2014/main" id="{9E41E726-527A-93A2-C66E-C781E64DFF0F}"/>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5" name="Rechtervlak" hidden="1">
            <a:extLst>
              <a:ext uri="{FF2B5EF4-FFF2-40B4-BE49-F238E27FC236}">
                <a16:creationId xmlns:a16="http://schemas.microsoft.com/office/drawing/2014/main" id="{C2CAEE8C-556B-29C7-37EF-7C1457D08E69}"/>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373953B5-B251-AA92-8D2B-177354BE722C}"/>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0" name="Linkervlak" hidden="1">
            <a:extLst>
              <a:ext uri="{FF2B5EF4-FFF2-40B4-BE49-F238E27FC236}">
                <a16:creationId xmlns:a16="http://schemas.microsoft.com/office/drawing/2014/main" id="{3176F20F-6988-BA12-BDD0-E670FE77E2A5}"/>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8" name="Driehoek">
            <a:extLst>
              <a:ext uri="{FF2B5EF4-FFF2-40B4-BE49-F238E27FC236}">
                <a16:creationId xmlns:a16="http://schemas.microsoft.com/office/drawing/2014/main" id="{EC41E9DC-3F77-19A1-D535-6C55B0403E3D}"/>
              </a:ext>
            </a:extLst>
          </p:cNvPr>
          <p:cNvSpPr/>
          <p:nvPr userDrawn="1"/>
        </p:nvSpPr>
        <p:spPr>
          <a:xfrm rot="10800000" flipH="1">
            <a:off x="9719595" y="0"/>
            <a:ext cx="576000" cy="1066800"/>
          </a:xfrm>
          <a:prstGeom prst="r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600" b="1">
              <a:latin typeface="Century Gothic" panose="020B0502020202020204" pitchFamily="34" charset="0"/>
            </a:endParaRPr>
          </a:p>
        </p:txBody>
      </p:sp>
      <p:sp>
        <p:nvSpPr>
          <p:cNvPr id="29" name="Titelblok">
            <a:extLst>
              <a:ext uri="{FF2B5EF4-FFF2-40B4-BE49-F238E27FC236}">
                <a16:creationId xmlns:a16="http://schemas.microsoft.com/office/drawing/2014/main" id="{9E6D61FC-FFB3-DF27-1E11-9D8E32F8BFED}"/>
              </a:ext>
            </a:extLst>
          </p:cNvPr>
          <p:cNvSpPr/>
          <p:nvPr userDrawn="1"/>
        </p:nvSpPr>
        <p:spPr>
          <a:xfrm>
            <a:off x="0" y="0"/>
            <a:ext cx="9719589" cy="1066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Vrije tijd - 1</a:t>
            </a:r>
          </a:p>
        </p:txBody>
      </p:sp>
      <p:sp>
        <p:nvSpPr>
          <p:cNvPr id="30" name="TextBox 1">
            <a:extLst>
              <a:ext uri="{FF2B5EF4-FFF2-40B4-BE49-F238E27FC236}">
                <a16:creationId xmlns:a16="http://schemas.microsoft.com/office/drawing/2014/main" id="{61E6ED86-36E7-5580-0EDD-BBA2466C7064}"/>
              </a:ext>
            </a:extLst>
          </p:cNvPr>
          <p:cNvSpPr txBox="1"/>
          <p:nvPr userDrawn="1"/>
        </p:nvSpPr>
        <p:spPr>
          <a:xfrm>
            <a:off x="457219" y="1519201"/>
            <a:ext cx="3456000" cy="1454244"/>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indent="0">
              <a:buNone/>
            </a:pPr>
            <a:r>
              <a:rPr lang="nl-NL" sz="1000" noProof="0" dirty="0">
                <a:ea typeface="+mn-lt"/>
                <a:cs typeface="+mn-lt"/>
              </a:rPr>
              <a:t>Sociale media spelen een grote rol in het leven van jongeren. Als jongeren het gebruik van sociale media niet meer onder controle hebben, kunnen er problemen ontstaan in het dagelijks functioneren.</a:t>
            </a:r>
          </a:p>
          <a:p>
            <a:pPr marL="0" indent="0">
              <a:buNone/>
            </a:pPr>
            <a:r>
              <a:rPr lang="nl-NL" sz="1000" noProof="0" dirty="0">
                <a:ea typeface="+mn-lt"/>
                <a:cs typeface="+mn-lt"/>
              </a:rPr>
              <a:t>Ook langdurig gamen en hier niet mee kunnen stoppen, kan problematisch worden. Het kan negatieve effecten hebben op verschillende aspecten van gezondheid, zoals mentaal welbevinden, eenzaamheid en slaap.</a:t>
            </a:r>
          </a:p>
        </p:txBody>
      </p:sp>
      <p:sp>
        <p:nvSpPr>
          <p:cNvPr id="12" name="Tekstvak 11">
            <a:extLst>
              <a:ext uri="{FF2B5EF4-FFF2-40B4-BE49-F238E27FC236}">
                <a16:creationId xmlns:a16="http://schemas.microsoft.com/office/drawing/2014/main" id="{23126E02-235C-F20E-55BF-6501BC889F08}"/>
              </a:ext>
            </a:extLst>
          </p:cNvPr>
          <p:cNvSpPr txBox="1"/>
          <p:nvPr userDrawn="1"/>
        </p:nvSpPr>
        <p:spPr>
          <a:xfrm>
            <a:off x="5336541" y="4409251"/>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voelt zich vaak goed door sociale media</a:t>
            </a:r>
          </a:p>
        </p:txBody>
      </p:sp>
      <p:sp>
        <p:nvSpPr>
          <p:cNvPr id="21" name="Tekstvak 20">
            <a:extLst>
              <a:ext uri="{FF2B5EF4-FFF2-40B4-BE49-F238E27FC236}">
                <a16:creationId xmlns:a16="http://schemas.microsoft.com/office/drawing/2014/main" id="{EA8159C4-0B49-16A7-CF93-6E2EAE632936}"/>
              </a:ext>
            </a:extLst>
          </p:cNvPr>
          <p:cNvSpPr txBox="1"/>
          <p:nvPr userDrawn="1"/>
        </p:nvSpPr>
        <p:spPr>
          <a:xfrm>
            <a:off x="5327789" y="5550151"/>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voelt zich vaak slecht door sociale media</a:t>
            </a:r>
          </a:p>
        </p:txBody>
      </p:sp>
      <p:sp>
        <p:nvSpPr>
          <p:cNvPr id="27" name="Tekstvak 26">
            <a:extLst>
              <a:ext uri="{FF2B5EF4-FFF2-40B4-BE49-F238E27FC236}">
                <a16:creationId xmlns:a16="http://schemas.microsoft.com/office/drawing/2014/main" id="{F46604A6-92C3-5845-3E5C-43884823D5FC}"/>
              </a:ext>
            </a:extLst>
          </p:cNvPr>
          <p:cNvSpPr txBox="1"/>
          <p:nvPr userDrawn="1"/>
        </p:nvSpPr>
        <p:spPr>
          <a:xfrm>
            <a:off x="5322772" y="2310149"/>
            <a:ext cx="2348367" cy="400110"/>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vindt het moeilijk om te stoppen met sociale media</a:t>
            </a:r>
          </a:p>
        </p:txBody>
      </p:sp>
      <p:sp>
        <p:nvSpPr>
          <p:cNvPr id="36" name="Tekstvak 35">
            <a:extLst>
              <a:ext uri="{FF2B5EF4-FFF2-40B4-BE49-F238E27FC236}">
                <a16:creationId xmlns:a16="http://schemas.microsoft.com/office/drawing/2014/main" id="{B223FDE4-8A64-71A3-A186-78367F67A8E7}"/>
              </a:ext>
            </a:extLst>
          </p:cNvPr>
          <p:cNvSpPr txBox="1"/>
          <p:nvPr userDrawn="1"/>
        </p:nvSpPr>
        <p:spPr>
          <a:xfrm>
            <a:off x="5322772" y="3359700"/>
            <a:ext cx="2348367" cy="4154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vindt zichzelf heel erg verslaafd aan sociale media</a:t>
            </a:r>
          </a:p>
        </p:txBody>
      </p:sp>
      <p:sp>
        <p:nvSpPr>
          <p:cNvPr id="8" name="Grafiek gamen">
            <a:extLst>
              <a:ext uri="{FF2B5EF4-FFF2-40B4-BE49-F238E27FC236}">
                <a16:creationId xmlns:a16="http://schemas.microsoft.com/office/drawing/2014/main" id="{4165A685-B37E-8373-787F-B56A2C992087}"/>
              </a:ext>
            </a:extLst>
          </p:cNvPr>
          <p:cNvSpPr>
            <a:spLocks noGrp="1"/>
          </p:cNvSpPr>
          <p:nvPr>
            <p:ph type="chart" sz="quarter" idx="18"/>
          </p:nvPr>
        </p:nvSpPr>
        <p:spPr>
          <a:xfrm>
            <a:off x="8278783" y="4024800"/>
            <a:ext cx="3456000" cy="2196000"/>
          </a:xfrm>
          <a:prstGeom prst="rect">
            <a:avLst/>
          </a:prstGeom>
        </p:spPr>
        <p:txBody>
          <a:bodyPr/>
          <a:lstStyle>
            <a:lvl1pPr marL="0" indent="0">
              <a:buNone/>
              <a:defRPr sz="3200"/>
            </a:lvl1pPr>
          </a:lstStyle>
          <a:p>
            <a:endParaRPr lang="nl-NL" dirty="0"/>
          </a:p>
        </p:txBody>
      </p:sp>
      <p:sp>
        <p:nvSpPr>
          <p:cNvPr id="6" name="Grafiek gamen frequentie">
            <a:extLst>
              <a:ext uri="{FF2B5EF4-FFF2-40B4-BE49-F238E27FC236}">
                <a16:creationId xmlns:a16="http://schemas.microsoft.com/office/drawing/2014/main" id="{68CBF841-FAF0-2946-073C-8823C059A383}"/>
              </a:ext>
            </a:extLst>
          </p:cNvPr>
          <p:cNvSpPr>
            <a:spLocks noGrp="1"/>
          </p:cNvSpPr>
          <p:nvPr>
            <p:ph type="chart" sz="quarter" idx="17"/>
          </p:nvPr>
        </p:nvSpPr>
        <p:spPr>
          <a:xfrm>
            <a:off x="8278781" y="1519200"/>
            <a:ext cx="3456000" cy="2340000"/>
          </a:xfrm>
          <a:prstGeom prst="rect">
            <a:avLst/>
          </a:prstGeom>
        </p:spPr>
        <p:txBody>
          <a:bodyPr/>
          <a:lstStyle>
            <a:lvl1pPr marL="0" indent="0">
              <a:buNone/>
              <a:defRPr sz="3200"/>
            </a:lvl1pPr>
          </a:lstStyle>
          <a:p>
            <a:endParaRPr lang="nl-NL" dirty="0"/>
          </a:p>
        </p:txBody>
      </p:sp>
      <p:sp>
        <p:nvSpPr>
          <p:cNvPr id="22" name="Percentage social slecht">
            <a:extLst>
              <a:ext uri="{FF2B5EF4-FFF2-40B4-BE49-F238E27FC236}">
                <a16:creationId xmlns:a16="http://schemas.microsoft.com/office/drawing/2014/main" id="{D2B1E227-D1D4-A1AE-E494-8B79EF29477C}"/>
              </a:ext>
            </a:extLst>
          </p:cNvPr>
          <p:cNvSpPr>
            <a:spLocks noGrp="1"/>
          </p:cNvSpPr>
          <p:nvPr>
            <p:ph type="body" sz="quarter" idx="21" hasCustomPrompt="1"/>
          </p:nvPr>
        </p:nvSpPr>
        <p:spPr>
          <a:xfrm>
            <a:off x="4498341" y="5338800"/>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13" name="Percentage social goed">
            <a:extLst>
              <a:ext uri="{FF2B5EF4-FFF2-40B4-BE49-F238E27FC236}">
                <a16:creationId xmlns:a16="http://schemas.microsoft.com/office/drawing/2014/main" id="{8C955783-7CAC-DA76-CA88-8BE1AE7473D1}"/>
              </a:ext>
            </a:extLst>
          </p:cNvPr>
          <p:cNvSpPr>
            <a:spLocks noGrp="1"/>
          </p:cNvSpPr>
          <p:nvPr>
            <p:ph type="body" sz="quarter" idx="20" hasCustomPrompt="1"/>
          </p:nvPr>
        </p:nvSpPr>
        <p:spPr>
          <a:xfrm>
            <a:off x="4507093" y="4197900"/>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7" name="Percentage social verslaafd">
            <a:extLst>
              <a:ext uri="{FF2B5EF4-FFF2-40B4-BE49-F238E27FC236}">
                <a16:creationId xmlns:a16="http://schemas.microsoft.com/office/drawing/2014/main" id="{18913CE2-45CB-5F31-B1B9-EA8AC4297BB3}"/>
              </a:ext>
            </a:extLst>
          </p:cNvPr>
          <p:cNvSpPr>
            <a:spLocks noGrp="1"/>
          </p:cNvSpPr>
          <p:nvPr>
            <p:ph type="body" sz="quarter" idx="23" hasCustomPrompt="1"/>
          </p:nvPr>
        </p:nvSpPr>
        <p:spPr>
          <a:xfrm>
            <a:off x="4493324" y="3148349"/>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35" name="Percentage social stoppen">
            <a:extLst>
              <a:ext uri="{FF2B5EF4-FFF2-40B4-BE49-F238E27FC236}">
                <a16:creationId xmlns:a16="http://schemas.microsoft.com/office/drawing/2014/main" id="{531B1E78-72B5-EE4D-AFDB-2FEE2F067F43}"/>
              </a:ext>
            </a:extLst>
          </p:cNvPr>
          <p:cNvSpPr>
            <a:spLocks noGrp="1"/>
          </p:cNvSpPr>
          <p:nvPr>
            <p:ph type="body" sz="quarter" idx="22" hasCustomPrompt="1"/>
          </p:nvPr>
        </p:nvSpPr>
        <p:spPr>
          <a:xfrm>
            <a:off x="4493324" y="2098798"/>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11" name="Grafiek gebruik social">
            <a:extLst>
              <a:ext uri="{FF2B5EF4-FFF2-40B4-BE49-F238E27FC236}">
                <a16:creationId xmlns:a16="http://schemas.microsoft.com/office/drawing/2014/main" id="{3DD80569-0651-C744-7B9E-9D5E4CBE7D67}"/>
              </a:ext>
            </a:extLst>
          </p:cNvPr>
          <p:cNvSpPr>
            <a:spLocks noGrp="1"/>
          </p:cNvSpPr>
          <p:nvPr>
            <p:ph type="chart" sz="quarter" idx="19"/>
          </p:nvPr>
        </p:nvSpPr>
        <p:spPr>
          <a:xfrm>
            <a:off x="453336"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2086029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rije tijd 2">
    <p:spTree>
      <p:nvGrpSpPr>
        <p:cNvPr id="1" name=""/>
        <p:cNvGrpSpPr/>
        <p:nvPr/>
      </p:nvGrpSpPr>
      <p:grpSpPr>
        <a:xfrm>
          <a:off x="0" y="0"/>
          <a:ext cx="0" cy="0"/>
          <a:chOff x="0" y="0"/>
          <a:chExt cx="0" cy="0"/>
        </a:xfrm>
      </p:grpSpPr>
      <p:cxnSp>
        <p:nvCxnSpPr>
          <p:cNvPr id="9" name="Rechter scheidingslijn">
            <a:extLst>
              <a:ext uri="{FF2B5EF4-FFF2-40B4-BE49-F238E27FC236}">
                <a16:creationId xmlns:a16="http://schemas.microsoft.com/office/drawing/2014/main" id="{0E620A24-DF61-5FC4-03CA-5A6296572634}"/>
              </a:ext>
            </a:extLst>
          </p:cNvPr>
          <p:cNvCxnSpPr>
            <a:cxnSpLocks/>
          </p:cNvCxnSpPr>
          <p:nvPr userDrawn="1"/>
        </p:nvCxnSpPr>
        <p:spPr>
          <a:xfrm flipV="1">
            <a:off x="805182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16" name="Linker scheidingslijn" hidden="1">
            <a:extLst>
              <a:ext uri="{FF2B5EF4-FFF2-40B4-BE49-F238E27FC236}">
                <a16:creationId xmlns:a16="http://schemas.microsoft.com/office/drawing/2014/main" id="{BF991402-2FA5-B072-B26C-C18CB28F119D}"/>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htervlak" hidden="1">
            <a:extLst>
              <a:ext uri="{FF2B5EF4-FFF2-40B4-BE49-F238E27FC236}">
                <a16:creationId xmlns:a16="http://schemas.microsoft.com/office/drawing/2014/main" id="{478B4E9C-6EA3-86BA-A005-4898D3F0418B}"/>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BF23DF73-A70D-5886-BDA9-8AC739DA40ED}"/>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Linkervlak" hidden="1">
            <a:extLst>
              <a:ext uri="{FF2B5EF4-FFF2-40B4-BE49-F238E27FC236}">
                <a16:creationId xmlns:a16="http://schemas.microsoft.com/office/drawing/2014/main" id="{97D42C6D-667D-3980-8218-AB7A63BFE11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Driehoek">
            <a:extLst>
              <a:ext uri="{FF2B5EF4-FFF2-40B4-BE49-F238E27FC236}">
                <a16:creationId xmlns:a16="http://schemas.microsoft.com/office/drawing/2014/main" id="{21B134B6-8770-5116-9C38-3B3F380F4B00}"/>
              </a:ext>
            </a:extLst>
          </p:cNvPr>
          <p:cNvSpPr/>
          <p:nvPr userDrawn="1"/>
        </p:nvSpPr>
        <p:spPr>
          <a:xfrm rot="10800000" flipH="1">
            <a:off x="9719595" y="0"/>
            <a:ext cx="576000" cy="1066800"/>
          </a:xfrm>
          <a:prstGeom prst="rtTriangl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2" name="Titelblok">
            <a:extLst>
              <a:ext uri="{FF2B5EF4-FFF2-40B4-BE49-F238E27FC236}">
                <a16:creationId xmlns:a16="http://schemas.microsoft.com/office/drawing/2014/main" id="{4A4E7343-055A-E338-0CFE-074BB9B9608F}"/>
              </a:ext>
            </a:extLst>
          </p:cNvPr>
          <p:cNvSpPr/>
          <p:nvPr userDrawn="1"/>
        </p:nvSpPr>
        <p:spPr>
          <a:xfrm>
            <a:off x="0" y="0"/>
            <a:ext cx="9719589" cy="10668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Vrije tijd - 2</a:t>
            </a:r>
          </a:p>
        </p:txBody>
      </p:sp>
      <p:sp>
        <p:nvSpPr>
          <p:cNvPr id="2" name="TextBox 1">
            <a:extLst>
              <a:ext uri="{FF2B5EF4-FFF2-40B4-BE49-F238E27FC236}">
                <a16:creationId xmlns:a16="http://schemas.microsoft.com/office/drawing/2014/main" id="{D58FCCE2-B6C0-B248-DA9E-969396D57D8F}"/>
              </a:ext>
            </a:extLst>
          </p:cNvPr>
          <p:cNvSpPr txBox="1"/>
          <p:nvPr userDrawn="1"/>
        </p:nvSpPr>
        <p:spPr>
          <a:xfrm>
            <a:off x="457218" y="1519201"/>
            <a:ext cx="7367645" cy="1300356"/>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indent="0">
              <a:buNone/>
            </a:pPr>
            <a:r>
              <a:rPr lang="nl-NL" sz="1000" noProof="0" dirty="0">
                <a:ea typeface="+mn-lt"/>
                <a:cs typeface="+mn-lt"/>
              </a:rPr>
              <a:t>Een goed aanbod van georganiseerde tijdsbesteding van jongeren vergroot de kansen om in de vrijetijd (buiten schooltijd) deel te kunnen nemen aan bijvoorbeeld culturele of creatieve activiteiten, zoals muziek maken, theater of schilderen/tekenen of aan andere activiteiten, zoals via een kerk of moskee.</a:t>
            </a:r>
          </a:p>
          <a:p>
            <a:pPr marL="0" indent="0">
              <a:buNone/>
            </a:pPr>
            <a:endParaRPr lang="nl-NL" sz="1000" noProof="0" dirty="0">
              <a:ea typeface="+mn-lt"/>
              <a:cs typeface="+mn-lt"/>
            </a:endParaRPr>
          </a:p>
          <a:p>
            <a:pPr marL="0" indent="0">
              <a:buNone/>
            </a:pPr>
            <a:r>
              <a:rPr lang="nl-NL" sz="1000" noProof="0" dirty="0">
                <a:ea typeface="+mn-lt"/>
                <a:cs typeface="+mn-lt"/>
              </a:rPr>
              <a:t>Deze activiteiten brengen jongeren in contact met volwassenen en andere jongeren die hen aanmoedigen en ondersteunen bij het ontwikkelen van hun talenten en vaardigheden. Constructieve tijdsbesteding is goed voor sociale betrokkenheid, positieve sociale normen, steun en verantwoordelijkheidsgevoel. Een goede vrije tijdsbesteding verkleint bij jongeren het risico op psychische ongezondheid en problematisch middelengebruik.</a:t>
            </a:r>
          </a:p>
        </p:txBody>
      </p:sp>
      <p:sp>
        <p:nvSpPr>
          <p:cNvPr id="3" name="Tekstvak 2">
            <a:extLst>
              <a:ext uri="{FF2B5EF4-FFF2-40B4-BE49-F238E27FC236}">
                <a16:creationId xmlns:a16="http://schemas.microsoft.com/office/drawing/2014/main" id="{6EE87308-33CA-2878-A75D-11BF28AB92FA}"/>
              </a:ext>
            </a:extLst>
          </p:cNvPr>
          <p:cNvSpPr txBox="1"/>
          <p:nvPr userDrawn="1"/>
        </p:nvSpPr>
        <p:spPr>
          <a:xfrm>
            <a:off x="1624046" y="4640802"/>
            <a:ext cx="2348367" cy="553998"/>
          </a:xfrm>
          <a:prstGeom prst="rect">
            <a:avLst/>
          </a:prstGeom>
          <a:noFill/>
        </p:spPr>
        <p:txBody>
          <a:bodyPr wrap="square">
            <a:spAutoFit/>
          </a:bodyPr>
          <a:lstStyle/>
          <a:p>
            <a:pPr marL="0" algn="l" defTabSz="629889" rtl="0" eaLnBrk="1" latinLnBrk="0" hangingPunct="1"/>
            <a:r>
              <a:rPr lang="nl-NL" sz="1000" b="1" kern="1200" noProof="0" dirty="0">
                <a:solidFill>
                  <a:schemeClr val="tx1"/>
                </a:solidFill>
                <a:latin typeface="Century Gothic" panose="020B0502020202020204" pitchFamily="34" charset="0"/>
                <a:ea typeface="+mn-ea"/>
                <a:cs typeface="Arial" panose="020B0604020202020204" pitchFamily="34" charset="0"/>
              </a:rPr>
              <a:t>doet minimaal 1 dag per week een activiteit bij een club, vereniging of organisatie</a:t>
            </a:r>
          </a:p>
        </p:txBody>
      </p:sp>
      <p:sp>
        <p:nvSpPr>
          <p:cNvPr id="4" name="Grafiek vereniging mentaal">
            <a:extLst>
              <a:ext uri="{FF2B5EF4-FFF2-40B4-BE49-F238E27FC236}">
                <a16:creationId xmlns:a16="http://schemas.microsoft.com/office/drawing/2014/main" id="{8CA6D203-86AF-EF80-157D-00777785211C}"/>
              </a:ext>
            </a:extLst>
          </p:cNvPr>
          <p:cNvSpPr>
            <a:spLocks noGrp="1"/>
          </p:cNvSpPr>
          <p:nvPr>
            <p:ph type="chart" sz="quarter" idx="18"/>
          </p:nvPr>
        </p:nvSpPr>
        <p:spPr>
          <a:xfrm>
            <a:off x="8278783" y="4024800"/>
            <a:ext cx="3456000" cy="2196000"/>
          </a:xfrm>
          <a:prstGeom prst="rect">
            <a:avLst/>
          </a:prstGeom>
        </p:spPr>
        <p:txBody>
          <a:bodyPr/>
          <a:lstStyle>
            <a:lvl1pPr marL="0" indent="0">
              <a:buNone/>
              <a:defRPr sz="3200"/>
            </a:lvl1pPr>
          </a:lstStyle>
          <a:p>
            <a:endParaRPr lang="nl-NL" dirty="0"/>
          </a:p>
        </p:txBody>
      </p:sp>
      <p:sp>
        <p:nvSpPr>
          <p:cNvPr id="8" name="Grafiek vereniging middelen">
            <a:extLst>
              <a:ext uri="{FF2B5EF4-FFF2-40B4-BE49-F238E27FC236}">
                <a16:creationId xmlns:a16="http://schemas.microsoft.com/office/drawing/2014/main" id="{B02FC404-4473-0363-1856-FEE068E7E979}"/>
              </a:ext>
            </a:extLst>
          </p:cNvPr>
          <p:cNvSpPr>
            <a:spLocks noGrp="1"/>
          </p:cNvSpPr>
          <p:nvPr>
            <p:ph type="chart" sz="quarter" idx="22"/>
          </p:nvPr>
        </p:nvSpPr>
        <p:spPr>
          <a:xfrm>
            <a:off x="8278782" y="1519200"/>
            <a:ext cx="3456000" cy="2196000"/>
          </a:xfrm>
          <a:prstGeom prst="rect">
            <a:avLst/>
          </a:prstGeom>
        </p:spPr>
        <p:txBody>
          <a:bodyPr/>
          <a:lstStyle>
            <a:lvl1pPr marL="0" indent="0">
              <a:buNone/>
              <a:defRPr sz="3200"/>
            </a:lvl1pPr>
          </a:lstStyle>
          <a:p>
            <a:endParaRPr lang="nl-NL" dirty="0"/>
          </a:p>
        </p:txBody>
      </p:sp>
      <p:sp>
        <p:nvSpPr>
          <p:cNvPr id="5" name="Percentage vereniging">
            <a:extLst>
              <a:ext uri="{FF2B5EF4-FFF2-40B4-BE49-F238E27FC236}">
                <a16:creationId xmlns:a16="http://schemas.microsoft.com/office/drawing/2014/main" id="{16E6BED0-F8BF-FF69-DE41-21217B5C00CE}"/>
              </a:ext>
            </a:extLst>
          </p:cNvPr>
          <p:cNvSpPr>
            <a:spLocks noGrp="1"/>
          </p:cNvSpPr>
          <p:nvPr>
            <p:ph type="body" sz="quarter" idx="21" hasCustomPrompt="1"/>
          </p:nvPr>
        </p:nvSpPr>
        <p:spPr>
          <a:xfrm>
            <a:off x="785846" y="4500599"/>
            <a:ext cx="838200" cy="838200"/>
          </a:xfrm>
          <a:prstGeom prst="ellipse">
            <a:avLst/>
          </a:prstGeom>
          <a:solidFill>
            <a:schemeClr val="accent2"/>
          </a:solidFill>
          <a:ln>
            <a:noFill/>
          </a:ln>
        </p:spPr>
        <p:txBody>
          <a:bodyPr anchor="ctr"/>
          <a:lstStyle>
            <a:lvl1pPr marL="0" indent="0" algn="ctr">
              <a:buNone/>
              <a:defRPr sz="1600" b="1">
                <a:solidFill>
                  <a:schemeClr val="bg1"/>
                </a:solidFill>
                <a:latin typeface="Century Gothic" panose="020B0502020202020204" pitchFamily="34" charset="0"/>
              </a:defRPr>
            </a:lvl1pPr>
            <a:lvl2pPr marL="502159" indent="0">
              <a:buNone/>
              <a:defRPr/>
            </a:lvl2pPr>
            <a:lvl3pPr marL="1004316" indent="0">
              <a:buNone/>
              <a:defRPr/>
            </a:lvl3pPr>
            <a:lvl4pPr marL="1506476" indent="0">
              <a:buNone/>
              <a:defRPr/>
            </a:lvl4pPr>
            <a:lvl5pPr marL="2008632" indent="0">
              <a:buNone/>
              <a:defRPr/>
            </a:lvl5pPr>
          </a:lstStyle>
          <a:p>
            <a:pPr lvl="0"/>
            <a:r>
              <a:rPr lang="nl-NL" dirty="0"/>
              <a:t>xx%</a:t>
            </a:r>
          </a:p>
        </p:txBody>
      </p:sp>
      <p:sp>
        <p:nvSpPr>
          <p:cNvPr id="6" name="Grafiek vereniging">
            <a:extLst>
              <a:ext uri="{FF2B5EF4-FFF2-40B4-BE49-F238E27FC236}">
                <a16:creationId xmlns:a16="http://schemas.microsoft.com/office/drawing/2014/main" id="{DC75E26F-AD6F-F827-3A87-3FEB28179AC1}"/>
              </a:ext>
            </a:extLst>
          </p:cNvPr>
          <p:cNvSpPr>
            <a:spLocks noGrp="1"/>
          </p:cNvSpPr>
          <p:nvPr>
            <p:ph type="chart" sz="quarter" idx="19"/>
          </p:nvPr>
        </p:nvSpPr>
        <p:spPr>
          <a:xfrm>
            <a:off x="4368000" y="4024800"/>
            <a:ext cx="3456000" cy="2340000"/>
          </a:xfrm>
          <a:prstGeom prst="rect">
            <a:avLst/>
          </a:prstGeom>
        </p:spPr>
        <p:txBody>
          <a:bodyPr/>
          <a:lstStyle>
            <a:lvl1pPr marL="0" indent="0">
              <a:buNone/>
              <a:defRPr sz="3200"/>
            </a:lvl1pPr>
          </a:lstStyle>
          <a:p>
            <a:endParaRPr lang="nl-NL" dirty="0"/>
          </a:p>
        </p:txBody>
      </p:sp>
    </p:spTree>
    <p:extLst>
      <p:ext uri="{BB962C8B-B14F-4D97-AF65-F5344CB8AC3E}">
        <p14:creationId xmlns:p14="http://schemas.microsoft.com/office/powerpoint/2010/main" val="5647281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Vrije tijd 2">
    <p:spTree>
      <p:nvGrpSpPr>
        <p:cNvPr id="1" name=""/>
        <p:cNvGrpSpPr/>
        <p:nvPr/>
      </p:nvGrpSpPr>
      <p:grpSpPr>
        <a:xfrm>
          <a:off x="0" y="0"/>
          <a:ext cx="0" cy="0"/>
          <a:chOff x="0" y="0"/>
          <a:chExt cx="0" cy="0"/>
        </a:xfrm>
      </p:grpSpPr>
      <p:cxnSp>
        <p:nvCxnSpPr>
          <p:cNvPr id="16" name="Linker scheidingslijn" hidden="1">
            <a:extLst>
              <a:ext uri="{FF2B5EF4-FFF2-40B4-BE49-F238E27FC236}">
                <a16:creationId xmlns:a16="http://schemas.microsoft.com/office/drawing/2014/main" id="{BF991402-2FA5-B072-B26C-C18CB28F119D}"/>
              </a:ext>
            </a:extLst>
          </p:cNvPr>
          <p:cNvCxnSpPr>
            <a:cxnSpLocks/>
          </p:cNvCxnSpPr>
          <p:nvPr userDrawn="1"/>
        </p:nvCxnSpPr>
        <p:spPr>
          <a:xfrm flipV="1">
            <a:off x="4140175" y="1519200"/>
            <a:ext cx="0" cy="4881600"/>
          </a:xfrm>
          <a:prstGeom prst="line">
            <a:avLst/>
          </a:prstGeom>
          <a:ln w="12700">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17" name="Rechtervlak" hidden="1">
            <a:extLst>
              <a:ext uri="{FF2B5EF4-FFF2-40B4-BE49-F238E27FC236}">
                <a16:creationId xmlns:a16="http://schemas.microsoft.com/office/drawing/2014/main" id="{478B4E9C-6EA3-86BA-A005-4898D3F0418B}"/>
              </a:ext>
            </a:extLst>
          </p:cNvPr>
          <p:cNvSpPr/>
          <p:nvPr userDrawn="1"/>
        </p:nvSpPr>
        <p:spPr>
          <a:xfrm>
            <a:off x="8280409"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8" name="Middenvlak" hidden="1">
            <a:extLst>
              <a:ext uri="{FF2B5EF4-FFF2-40B4-BE49-F238E27FC236}">
                <a16:creationId xmlns:a16="http://schemas.microsoft.com/office/drawing/2014/main" id="{BF23DF73-A70D-5886-BDA9-8AC739DA40ED}"/>
              </a:ext>
            </a:extLst>
          </p:cNvPr>
          <p:cNvSpPr/>
          <p:nvPr userDrawn="1"/>
        </p:nvSpPr>
        <p:spPr>
          <a:xfrm>
            <a:off x="4368814"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19" name="Linkervlak" hidden="1">
            <a:extLst>
              <a:ext uri="{FF2B5EF4-FFF2-40B4-BE49-F238E27FC236}">
                <a16:creationId xmlns:a16="http://schemas.microsoft.com/office/drawing/2014/main" id="{97D42C6D-667D-3980-8218-AB7A63BFE11B}"/>
              </a:ext>
            </a:extLst>
          </p:cNvPr>
          <p:cNvSpPr/>
          <p:nvPr userDrawn="1"/>
        </p:nvSpPr>
        <p:spPr>
          <a:xfrm>
            <a:off x="457221" y="1520170"/>
            <a:ext cx="3454375" cy="488063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21" name="Driehoek">
            <a:extLst>
              <a:ext uri="{FF2B5EF4-FFF2-40B4-BE49-F238E27FC236}">
                <a16:creationId xmlns:a16="http://schemas.microsoft.com/office/drawing/2014/main" id="{21B134B6-8770-5116-9C38-3B3F380F4B00}"/>
              </a:ext>
            </a:extLst>
          </p:cNvPr>
          <p:cNvSpPr/>
          <p:nvPr userDrawn="1"/>
        </p:nvSpPr>
        <p:spPr>
          <a:xfrm rot="10800000" flipH="1">
            <a:off x="9719595" y="0"/>
            <a:ext cx="576000" cy="1066800"/>
          </a:xfrm>
          <a:prstGeom prst="rtTriangle">
            <a:avLst/>
          </a:prstGeom>
          <a:solidFill>
            <a:srgbClr val="011763"/>
          </a:solidFill>
          <a:ln>
            <a:noFill/>
          </a:ln>
        </p:spPr>
        <p:style>
          <a:lnRef idx="0">
            <a:scrgbClr r="0" g="0" b="0"/>
          </a:lnRef>
          <a:fillRef idx="0">
            <a:scrgbClr r="0" g="0" b="0"/>
          </a:fillRef>
          <a:effectRef idx="0">
            <a:scrgbClr r="0" g="0" b="0"/>
          </a:effectRef>
          <a:fontRef idx="minor">
            <a:schemeClr val="lt1"/>
          </a:fontRef>
        </p:style>
        <p:txBody>
          <a:bodyPr rtlCol="0" anchor="ctr"/>
          <a:lstStyle/>
          <a:p>
            <a:pPr algn="l"/>
            <a:endParaRPr lang="en-US" sz="1793" b="1">
              <a:latin typeface="Century Gothic" panose="020B0502020202020204" pitchFamily="34" charset="0"/>
            </a:endParaRPr>
          </a:p>
        </p:txBody>
      </p:sp>
      <p:sp>
        <p:nvSpPr>
          <p:cNvPr id="22" name="Titelblok">
            <a:extLst>
              <a:ext uri="{FF2B5EF4-FFF2-40B4-BE49-F238E27FC236}">
                <a16:creationId xmlns:a16="http://schemas.microsoft.com/office/drawing/2014/main" id="{4A4E7343-055A-E338-0CFE-074BB9B9608F}"/>
              </a:ext>
            </a:extLst>
          </p:cNvPr>
          <p:cNvSpPr/>
          <p:nvPr userDrawn="1"/>
        </p:nvSpPr>
        <p:spPr>
          <a:xfrm>
            <a:off x="0" y="0"/>
            <a:ext cx="9719589" cy="1066800"/>
          </a:xfrm>
          <a:prstGeom prst="rect">
            <a:avLst/>
          </a:prstGeom>
          <a:solidFill>
            <a:srgbClr val="011763"/>
          </a:solidFill>
          <a:ln>
            <a:noFill/>
          </a:ln>
        </p:spPr>
        <p:style>
          <a:lnRef idx="0">
            <a:scrgbClr r="0" g="0" b="0"/>
          </a:lnRef>
          <a:fillRef idx="0">
            <a:scrgbClr r="0" g="0" b="0"/>
          </a:fillRef>
          <a:effectRef idx="0">
            <a:scrgbClr r="0" g="0" b="0"/>
          </a:effectRef>
          <a:fontRef idx="minor">
            <a:schemeClr val="lt1"/>
          </a:fontRef>
        </p:style>
        <p:txBody>
          <a:bodyPr rtlCol="0" anchor="ctr"/>
          <a:lstStyle/>
          <a:p>
            <a:pPr marL="0" indent="270272" algn="l"/>
            <a:r>
              <a:rPr lang="nl-NL" sz="2400" b="1" noProof="0" dirty="0">
                <a:latin typeface="Century Gothic" panose="020B0502020202020204" pitchFamily="34" charset="0"/>
              </a:rPr>
              <a:t>Contact</a:t>
            </a:r>
          </a:p>
        </p:txBody>
      </p:sp>
      <p:sp>
        <p:nvSpPr>
          <p:cNvPr id="2" name="TextBox 1">
            <a:extLst>
              <a:ext uri="{FF2B5EF4-FFF2-40B4-BE49-F238E27FC236}">
                <a16:creationId xmlns:a16="http://schemas.microsoft.com/office/drawing/2014/main" id="{D58FCCE2-B6C0-B248-DA9E-969396D57D8F}"/>
              </a:ext>
            </a:extLst>
          </p:cNvPr>
          <p:cNvSpPr txBox="1"/>
          <p:nvPr userDrawn="1"/>
        </p:nvSpPr>
        <p:spPr>
          <a:xfrm>
            <a:off x="457218" y="1519201"/>
            <a:ext cx="7367645" cy="238527"/>
          </a:xfrm>
          <a:prstGeom prst="rect">
            <a:avLst/>
          </a:prstGeom>
          <a:noFill/>
        </p:spPr>
        <p:txBody>
          <a:bodyPr rot="0" spcFirstLastPara="0" vert="horz" wrap="square" lIns="68580" tIns="34290" rIns="68580" bIns="34290" numCol="1" spcCol="0" rtlCol="0" fromWordArt="0" anchor="t" anchorCtr="0" forceAA="0" compatLnSpc="1">
            <a:prstTxWarp prst="textNoShape">
              <a:avLst/>
            </a:prstTxWarp>
            <a:spAutoFit/>
          </a:bodyPr>
          <a:lstStyle>
            <a:defPPr>
              <a:defRPr lang="nl-NL"/>
            </a:defPPr>
            <a:lvl1pPr marL="0" algn="l" defTabSz="839852" rtl="0" eaLnBrk="1" latinLnBrk="0" hangingPunct="1">
              <a:defRPr sz="1653" kern="1200">
                <a:solidFill>
                  <a:schemeClr val="tx1"/>
                </a:solidFill>
                <a:latin typeface="+mn-lt"/>
                <a:ea typeface="+mn-ea"/>
                <a:cs typeface="+mn-cs"/>
              </a:defRPr>
            </a:lvl1pPr>
            <a:lvl2pPr marL="419926" algn="l" defTabSz="839852" rtl="0" eaLnBrk="1" latinLnBrk="0" hangingPunct="1">
              <a:defRPr sz="1653" kern="1200">
                <a:solidFill>
                  <a:schemeClr val="tx1"/>
                </a:solidFill>
                <a:latin typeface="+mn-lt"/>
                <a:ea typeface="+mn-ea"/>
                <a:cs typeface="+mn-cs"/>
              </a:defRPr>
            </a:lvl2pPr>
            <a:lvl3pPr marL="839852" algn="l" defTabSz="839852" rtl="0" eaLnBrk="1" latinLnBrk="0" hangingPunct="1">
              <a:defRPr sz="1653" kern="1200">
                <a:solidFill>
                  <a:schemeClr val="tx1"/>
                </a:solidFill>
                <a:latin typeface="+mn-lt"/>
                <a:ea typeface="+mn-ea"/>
                <a:cs typeface="+mn-cs"/>
              </a:defRPr>
            </a:lvl3pPr>
            <a:lvl4pPr marL="1259779" algn="l" defTabSz="839852" rtl="0" eaLnBrk="1" latinLnBrk="0" hangingPunct="1">
              <a:defRPr sz="1653" kern="1200">
                <a:solidFill>
                  <a:schemeClr val="tx1"/>
                </a:solidFill>
                <a:latin typeface="+mn-lt"/>
                <a:ea typeface="+mn-ea"/>
                <a:cs typeface="+mn-cs"/>
              </a:defRPr>
            </a:lvl4pPr>
            <a:lvl5pPr marL="1679704" algn="l" defTabSz="839852" rtl="0" eaLnBrk="1" latinLnBrk="0" hangingPunct="1">
              <a:defRPr sz="1653" kern="1200">
                <a:solidFill>
                  <a:schemeClr val="tx1"/>
                </a:solidFill>
                <a:latin typeface="+mn-lt"/>
                <a:ea typeface="+mn-ea"/>
                <a:cs typeface="+mn-cs"/>
              </a:defRPr>
            </a:lvl5pPr>
            <a:lvl6pPr marL="2099630" algn="l" defTabSz="839852" rtl="0" eaLnBrk="1" latinLnBrk="0" hangingPunct="1">
              <a:defRPr sz="1653" kern="1200">
                <a:solidFill>
                  <a:schemeClr val="tx1"/>
                </a:solidFill>
                <a:latin typeface="+mn-lt"/>
                <a:ea typeface="+mn-ea"/>
                <a:cs typeface="+mn-cs"/>
              </a:defRPr>
            </a:lvl6pPr>
            <a:lvl7pPr marL="2519556" algn="l" defTabSz="839852" rtl="0" eaLnBrk="1" latinLnBrk="0" hangingPunct="1">
              <a:defRPr sz="1653" kern="1200">
                <a:solidFill>
                  <a:schemeClr val="tx1"/>
                </a:solidFill>
                <a:latin typeface="+mn-lt"/>
                <a:ea typeface="+mn-ea"/>
                <a:cs typeface="+mn-cs"/>
              </a:defRPr>
            </a:lvl7pPr>
            <a:lvl8pPr marL="2939482" algn="l" defTabSz="839852" rtl="0" eaLnBrk="1" latinLnBrk="0" hangingPunct="1">
              <a:defRPr sz="1653" kern="1200">
                <a:solidFill>
                  <a:schemeClr val="tx1"/>
                </a:solidFill>
                <a:latin typeface="+mn-lt"/>
                <a:ea typeface="+mn-ea"/>
                <a:cs typeface="+mn-cs"/>
              </a:defRPr>
            </a:lvl8pPr>
            <a:lvl9pPr marL="3359408" algn="l" defTabSz="839852" rtl="0" eaLnBrk="1" latinLnBrk="0" hangingPunct="1">
              <a:defRPr sz="1653" kern="1200">
                <a:solidFill>
                  <a:schemeClr val="tx1"/>
                </a:solidFill>
                <a:latin typeface="+mn-lt"/>
                <a:ea typeface="+mn-ea"/>
                <a:cs typeface="+mn-cs"/>
              </a:defRPr>
            </a:lvl9pPr>
          </a:lstStyle>
          <a:p>
            <a:pPr marL="0" indent="0">
              <a:buNone/>
            </a:pPr>
            <a:r>
              <a:rPr lang="nl-NL" sz="1000" noProof="0" dirty="0">
                <a:ea typeface="+mn-lt"/>
                <a:cs typeface="+mn-lt"/>
              </a:rPr>
              <a:t>Verhaaltje over </a:t>
            </a:r>
            <a:r>
              <a:rPr lang="nl-NL" sz="1100" noProof="0" dirty="0">
                <a:ea typeface="+mn-lt"/>
                <a:cs typeface="+mn-lt"/>
              </a:rPr>
              <a:t>contactgegevens</a:t>
            </a:r>
            <a:endParaRPr lang="nl-NL" sz="1000" noProof="0" dirty="0">
              <a:ea typeface="+mn-lt"/>
              <a:cs typeface="+mn-lt"/>
            </a:endParaRPr>
          </a:p>
        </p:txBody>
      </p:sp>
      <p:sp>
        <p:nvSpPr>
          <p:cNvPr id="10" name="Tijdelijke aanduiding voor tekst 9">
            <a:extLst>
              <a:ext uri="{FF2B5EF4-FFF2-40B4-BE49-F238E27FC236}">
                <a16:creationId xmlns:a16="http://schemas.microsoft.com/office/drawing/2014/main" id="{1E889B4B-6313-A93F-D20F-5F9B72B75503}"/>
              </a:ext>
            </a:extLst>
          </p:cNvPr>
          <p:cNvSpPr>
            <a:spLocks noGrp="1"/>
          </p:cNvSpPr>
          <p:nvPr>
            <p:ph type="body" sz="quarter" idx="10" hasCustomPrompt="1"/>
          </p:nvPr>
        </p:nvSpPr>
        <p:spPr>
          <a:xfrm>
            <a:off x="457218" y="2083094"/>
            <a:ext cx="5178425" cy="2586038"/>
          </a:xfrm>
          <a:prstGeom prst="rect">
            <a:avLst/>
          </a:prstGeom>
        </p:spPr>
        <p:txBody>
          <a:bodyPr/>
          <a:lstStyle>
            <a:lvl1pPr>
              <a:buNone/>
              <a:defRPr sz="1400" i="1">
                <a:latin typeface="+mj-lt"/>
              </a:defRPr>
            </a:lvl1pPr>
            <a:lvl2pPr>
              <a:buNone/>
              <a:defRPr/>
            </a:lvl2pPr>
            <a:lvl3pPr>
              <a:buNone/>
              <a:defRPr/>
            </a:lvl3pPr>
            <a:lvl4pPr>
              <a:buNone/>
              <a:defRPr/>
            </a:lvl4pPr>
            <a:lvl5pPr>
              <a:buNone/>
              <a:defRPr/>
            </a:lvl5pPr>
          </a:lstStyle>
          <a:p>
            <a:pPr lvl="0"/>
            <a:r>
              <a:rPr lang="nl-NL" i="1" dirty="0"/>
              <a:t>Contactgegevens</a:t>
            </a:r>
            <a:endParaRPr lang="nl-NL" dirty="0"/>
          </a:p>
        </p:txBody>
      </p:sp>
    </p:spTree>
    <p:extLst>
      <p:ext uri="{BB962C8B-B14F-4D97-AF65-F5344CB8AC3E}">
        <p14:creationId xmlns:p14="http://schemas.microsoft.com/office/powerpoint/2010/main" val="356240143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21" Type="http://schemas.openxmlformats.org/officeDocument/2006/relationships/image" Target="../media/image4.sv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slide" Target="../slides/slide2.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926890"/>
      </p:ext>
    </p:extLst>
  </p:cSld>
  <p:clrMap bg1="lt1" tx1="dk1" bg2="lt2" tx2="dk2" accent1="accent1" accent2="accent2" accent3="accent3" accent4="accent4" accent5="accent5" accent6="accent6" hlink="hlink" folHlink="folHlink"/>
  <p:sldLayoutIdLst>
    <p:sldLayoutId id="2147483716"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5" name="Groep 34">
            <a:extLst>
              <a:ext uri="{FF2B5EF4-FFF2-40B4-BE49-F238E27FC236}">
                <a16:creationId xmlns:a16="http://schemas.microsoft.com/office/drawing/2014/main" id="{ADD47282-7725-DD19-6D58-17EC32470268}"/>
              </a:ext>
            </a:extLst>
          </p:cNvPr>
          <p:cNvGrpSpPr/>
          <p:nvPr userDrawn="1"/>
        </p:nvGrpSpPr>
        <p:grpSpPr>
          <a:xfrm>
            <a:off x="10828384" y="6400800"/>
            <a:ext cx="457200" cy="457200"/>
            <a:chOff x="10820363" y="6400800"/>
            <a:chExt cx="457200" cy="457200"/>
          </a:xfrm>
          <a:solidFill>
            <a:srgbClr val="011763"/>
          </a:solidFill>
        </p:grpSpPr>
        <p:sp>
          <p:nvSpPr>
            <p:cNvPr id="36" name="Rechthoek 35">
              <a:hlinkClick r:id="" action="ppaction://hlinkshowjump?jump=previousslide"/>
              <a:extLst>
                <a:ext uri="{FF2B5EF4-FFF2-40B4-BE49-F238E27FC236}">
                  <a16:creationId xmlns:a16="http://schemas.microsoft.com/office/drawing/2014/main" id="{C462D230-9ED6-1EED-3478-98E5313EDA1C}"/>
                </a:ext>
              </a:extLst>
            </p:cNvPr>
            <p:cNvSpPr/>
            <p:nvPr userDrawn="1"/>
          </p:nvSpPr>
          <p:spPr>
            <a:xfrm>
              <a:off x="10820363" y="6400800"/>
              <a:ext cx="457200"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37" name="Gelijkbenige driehoek 36">
              <a:hlinkClick r:id="" action="ppaction://hlinkshowjump?jump=previousslide"/>
              <a:extLst>
                <a:ext uri="{FF2B5EF4-FFF2-40B4-BE49-F238E27FC236}">
                  <a16:creationId xmlns:a16="http://schemas.microsoft.com/office/drawing/2014/main" id="{57AC56BE-91FD-BB82-DA9C-497DFCD01BF9}"/>
                </a:ext>
              </a:extLst>
            </p:cNvPr>
            <p:cNvSpPr/>
            <p:nvPr userDrawn="1"/>
          </p:nvSpPr>
          <p:spPr>
            <a:xfrm rot="16200000" flipH="1">
              <a:off x="10935888" y="6539400"/>
              <a:ext cx="216000" cy="180000"/>
            </a:xfrm>
            <a:prstGeom prst="triangl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grpSp>
      <p:grpSp>
        <p:nvGrpSpPr>
          <p:cNvPr id="32" name="Groep 31">
            <a:extLst>
              <a:ext uri="{FF2B5EF4-FFF2-40B4-BE49-F238E27FC236}">
                <a16:creationId xmlns:a16="http://schemas.microsoft.com/office/drawing/2014/main" id="{EFC8F76D-AF70-2D5C-CAF6-ED644D60FF1C}"/>
              </a:ext>
            </a:extLst>
          </p:cNvPr>
          <p:cNvGrpSpPr/>
          <p:nvPr userDrawn="1"/>
        </p:nvGrpSpPr>
        <p:grpSpPr>
          <a:xfrm>
            <a:off x="11280509" y="6400800"/>
            <a:ext cx="457200" cy="457200"/>
            <a:chOff x="11272488" y="6400800"/>
            <a:chExt cx="457200" cy="457200"/>
          </a:xfrm>
          <a:solidFill>
            <a:srgbClr val="011763"/>
          </a:solidFill>
        </p:grpSpPr>
        <p:sp>
          <p:nvSpPr>
            <p:cNvPr id="33" name="Rechthoek 32">
              <a:hlinkClick r:id="" action="ppaction://hlinkshowjump?jump=nextslide"/>
              <a:extLst>
                <a:ext uri="{FF2B5EF4-FFF2-40B4-BE49-F238E27FC236}">
                  <a16:creationId xmlns:a16="http://schemas.microsoft.com/office/drawing/2014/main" id="{17A474EB-6DB4-FC5A-4D1E-C39370BF26DE}"/>
                </a:ext>
              </a:extLst>
            </p:cNvPr>
            <p:cNvSpPr/>
            <p:nvPr userDrawn="1"/>
          </p:nvSpPr>
          <p:spPr>
            <a:xfrm>
              <a:off x="11272488" y="6400800"/>
              <a:ext cx="457200" cy="45720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sp>
          <p:nvSpPr>
            <p:cNvPr id="34" name="Gelijkbenige driehoek 33">
              <a:hlinkClick r:id="" action="ppaction://hlinkshowjump?jump=nextslide"/>
              <a:extLst>
                <a:ext uri="{FF2B5EF4-FFF2-40B4-BE49-F238E27FC236}">
                  <a16:creationId xmlns:a16="http://schemas.microsoft.com/office/drawing/2014/main" id="{F2A91492-2FB3-A234-158F-A565824967A4}"/>
                </a:ext>
              </a:extLst>
            </p:cNvPr>
            <p:cNvSpPr/>
            <p:nvPr userDrawn="1"/>
          </p:nvSpPr>
          <p:spPr>
            <a:xfrm rot="5400000">
              <a:off x="11393088" y="6539400"/>
              <a:ext cx="216000" cy="180000"/>
            </a:xfrm>
            <a:prstGeom prst="triangl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sz="1240"/>
            </a:p>
          </p:txBody>
        </p:sp>
      </p:grpSp>
      <p:grpSp>
        <p:nvGrpSpPr>
          <p:cNvPr id="29" name="Groep 28">
            <a:extLst>
              <a:ext uri="{FF2B5EF4-FFF2-40B4-BE49-F238E27FC236}">
                <a16:creationId xmlns:a16="http://schemas.microsoft.com/office/drawing/2014/main" id="{D736CFBB-4F20-745F-5199-7213B2AE73F9}"/>
              </a:ext>
            </a:extLst>
          </p:cNvPr>
          <p:cNvGrpSpPr/>
          <p:nvPr userDrawn="1"/>
        </p:nvGrpSpPr>
        <p:grpSpPr>
          <a:xfrm>
            <a:off x="11734781" y="6400800"/>
            <a:ext cx="457219" cy="457200"/>
            <a:chOff x="11734781" y="6400800"/>
            <a:chExt cx="457219" cy="457200"/>
          </a:xfrm>
          <a:solidFill>
            <a:schemeClr val="tx1">
              <a:lumMod val="25000"/>
              <a:lumOff val="75000"/>
            </a:schemeClr>
          </a:solidFill>
        </p:grpSpPr>
        <p:sp>
          <p:nvSpPr>
            <p:cNvPr id="30" name="Rectangle 23">
              <a:hlinkClick r:id="rId19" action="ppaction://hlinksldjump"/>
              <a:extLst>
                <a:ext uri="{FF2B5EF4-FFF2-40B4-BE49-F238E27FC236}">
                  <a16:creationId xmlns:a16="http://schemas.microsoft.com/office/drawing/2014/main" id="{CB127B58-0E04-70A9-47ED-461794FE8617}"/>
                </a:ext>
              </a:extLst>
            </p:cNvPr>
            <p:cNvSpPr/>
            <p:nvPr userDrawn="1"/>
          </p:nvSpPr>
          <p:spPr>
            <a:xfrm>
              <a:off x="11734781" y="6400800"/>
              <a:ext cx="457219" cy="457200"/>
            </a:xfrm>
            <a:prstGeom prst="rect">
              <a:avLst/>
            </a:prstGeom>
            <a:solidFill>
              <a:srgbClr val="01176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793">
                <a:latin typeface="Century Gothic" panose="020B0502020202020204" pitchFamily="34" charset="0"/>
              </a:endParaRPr>
            </a:p>
          </p:txBody>
        </p:sp>
        <p:pic>
          <p:nvPicPr>
            <p:cNvPr id="31" name="Graphic 30" descr="Pictogram hamburgermenu met effen opvulling">
              <a:hlinkClick r:id="rId19" action="ppaction://hlinksldjump"/>
              <a:extLst>
                <a:ext uri="{FF2B5EF4-FFF2-40B4-BE49-F238E27FC236}">
                  <a16:creationId xmlns:a16="http://schemas.microsoft.com/office/drawing/2014/main" id="{99DE48E4-4AEA-BCAC-EEA9-967EF7C21301}"/>
                </a:ext>
              </a:extLst>
            </p:cNvPr>
            <p:cNvPicPr>
              <a:picLocks/>
            </p:cNvPicPr>
            <p:nvPr userDrawn="1"/>
          </p:nvPicPr>
          <p:blipFill>
            <a:blip r:embed="rId20" cstate="print">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1762844" y="6431400"/>
              <a:ext cx="396000" cy="396000"/>
            </a:xfrm>
            <a:prstGeom prst="rect">
              <a:avLst/>
            </a:prstGeom>
          </p:spPr>
        </p:pic>
      </p:grpSp>
      <p:pic>
        <p:nvPicPr>
          <p:cNvPr id="2" name="GGD Logo" descr="Afbeelding met schermopname, Graphics, logo, grafische vormgeving">
            <a:extLst>
              <a:ext uri="{FF2B5EF4-FFF2-40B4-BE49-F238E27FC236}">
                <a16:creationId xmlns:a16="http://schemas.microsoft.com/office/drawing/2014/main" id="{A100E981-8880-FD10-F870-F8025F47FD37}"/>
              </a:ext>
            </a:extLst>
          </p:cNvPr>
          <p:cNvPicPr>
            <a:picLocks noChangeAspect="1"/>
          </p:cNvPicPr>
          <p:nvPr userDrawn="1"/>
        </p:nvPicPr>
        <p:blipFill>
          <a:blip r:embed="rId22">
            <a:extLst>
              <a:ext uri="{28A0092B-C50C-407E-A947-70E740481C1C}">
                <a14:useLocalDpi xmlns:a14="http://schemas.microsoft.com/office/drawing/2010/main" val="0"/>
              </a:ext>
            </a:extLst>
          </a:blip>
          <a:srcRect l="4812" t="4590" r="75574" b="76740"/>
          <a:stretch>
            <a:fillRect/>
          </a:stretch>
        </p:blipFill>
        <p:spPr>
          <a:xfrm>
            <a:off x="10656839" y="199481"/>
            <a:ext cx="1247339" cy="667838"/>
          </a:xfrm>
          <a:prstGeom prst="rect">
            <a:avLst/>
          </a:prstGeom>
        </p:spPr>
      </p:pic>
    </p:spTree>
    <p:extLst>
      <p:ext uri="{BB962C8B-B14F-4D97-AF65-F5344CB8AC3E}">
        <p14:creationId xmlns:p14="http://schemas.microsoft.com/office/powerpoint/2010/main" val="582609979"/>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65" r:id="rId3"/>
    <p:sldLayoutId id="2147483705" r:id="rId4"/>
    <p:sldLayoutId id="2147483670" r:id="rId5"/>
    <p:sldLayoutId id="2147483702" r:id="rId6"/>
    <p:sldLayoutId id="2147483663" r:id="rId7"/>
    <p:sldLayoutId id="2147483664" r:id="rId8"/>
    <p:sldLayoutId id="2147483682" r:id="rId9"/>
    <p:sldLayoutId id="2147483679" r:id="rId10"/>
    <p:sldLayoutId id="2147483680" r:id="rId11"/>
    <p:sldLayoutId id="2147483701" r:id="rId12"/>
    <p:sldLayoutId id="2147483703" r:id="rId13"/>
    <p:sldLayoutId id="2147483704" r:id="rId14"/>
    <p:sldLayoutId id="2147483676" r:id="rId15"/>
    <p:sldLayoutId id="2147483700" r:id="rId16"/>
    <p:sldLayoutId id="2147483707" r:id="rId17"/>
  </p:sldLayoutIdLst>
  <p:txStyles>
    <p:titleStyle>
      <a:lvl1pPr algn="ctr" defTabSz="1004316" rtl="0" eaLnBrk="1" latinLnBrk="0" hangingPunct="1">
        <a:spcBef>
          <a:spcPct val="0"/>
        </a:spcBef>
        <a:buNone/>
        <a:defRPr sz="4832" kern="1200">
          <a:solidFill>
            <a:schemeClr val="tx1"/>
          </a:solidFill>
          <a:latin typeface="Serifa Std 55 Roman" pitchFamily="18" charset="0"/>
          <a:ea typeface="+mj-ea"/>
          <a:cs typeface="+mj-cs"/>
        </a:defRPr>
      </a:lvl1pPr>
    </p:titleStyle>
    <p:bodyStyle>
      <a:lvl1pPr marL="376619" indent="-376619" algn="l" defTabSz="1004316" rtl="0" eaLnBrk="1" latinLnBrk="0" hangingPunct="1">
        <a:spcBef>
          <a:spcPct val="20000"/>
        </a:spcBef>
        <a:buFont typeface="Arial" panose="020B0604020202020204" pitchFamily="34" charset="0"/>
        <a:buChar char="•"/>
        <a:defRPr sz="3515" kern="1200">
          <a:solidFill>
            <a:schemeClr val="tx1"/>
          </a:solidFill>
          <a:latin typeface="Serifa Std 45 Light" pitchFamily="18" charset="0"/>
          <a:ea typeface="+mn-ea"/>
          <a:cs typeface="+mn-cs"/>
        </a:defRPr>
      </a:lvl1pPr>
      <a:lvl2pPr marL="816008" indent="-313850" algn="l" defTabSz="1004316" rtl="0" eaLnBrk="1" latinLnBrk="0" hangingPunct="1">
        <a:spcBef>
          <a:spcPct val="20000"/>
        </a:spcBef>
        <a:buFont typeface="Arial" panose="020B0604020202020204" pitchFamily="34" charset="0"/>
        <a:buChar char="–"/>
        <a:defRPr sz="3075" kern="1200">
          <a:solidFill>
            <a:schemeClr val="tx1"/>
          </a:solidFill>
          <a:latin typeface="Serifa Std 45 Light" pitchFamily="18" charset="0"/>
          <a:ea typeface="+mn-ea"/>
          <a:cs typeface="+mn-cs"/>
        </a:defRPr>
      </a:lvl2pPr>
      <a:lvl3pPr marL="1255395" indent="-251078" algn="l" defTabSz="1004316" rtl="0" eaLnBrk="1" latinLnBrk="0" hangingPunct="1">
        <a:spcBef>
          <a:spcPct val="20000"/>
        </a:spcBef>
        <a:buFont typeface="Arial" panose="020B0604020202020204" pitchFamily="34" charset="0"/>
        <a:buChar char="•"/>
        <a:defRPr sz="2636" kern="1200">
          <a:solidFill>
            <a:schemeClr val="tx1"/>
          </a:solidFill>
          <a:latin typeface="Serifa Std 45 Light" pitchFamily="18" charset="0"/>
          <a:ea typeface="+mn-ea"/>
          <a:cs typeface="+mn-cs"/>
        </a:defRPr>
      </a:lvl3pPr>
      <a:lvl4pPr marL="1757554" indent="-251078" algn="l" defTabSz="1004316" rtl="0" eaLnBrk="1" latinLnBrk="0" hangingPunct="1">
        <a:spcBef>
          <a:spcPct val="20000"/>
        </a:spcBef>
        <a:buFont typeface="Arial" panose="020B0604020202020204" pitchFamily="34" charset="0"/>
        <a:buChar char="–"/>
        <a:defRPr sz="2197" kern="1200">
          <a:solidFill>
            <a:schemeClr val="tx1"/>
          </a:solidFill>
          <a:latin typeface="Serifa Std 45 Light" pitchFamily="18" charset="0"/>
          <a:ea typeface="+mn-ea"/>
          <a:cs typeface="+mn-cs"/>
        </a:defRPr>
      </a:lvl4pPr>
      <a:lvl5pPr marL="2259711" indent="-251078" algn="l" defTabSz="1004316" rtl="0" eaLnBrk="1" latinLnBrk="0" hangingPunct="1">
        <a:spcBef>
          <a:spcPct val="20000"/>
        </a:spcBef>
        <a:buFont typeface="Arial" panose="020B0604020202020204" pitchFamily="34" charset="0"/>
        <a:buChar char="»"/>
        <a:defRPr sz="2197" kern="1200">
          <a:solidFill>
            <a:schemeClr val="tx1"/>
          </a:solidFill>
          <a:latin typeface="Serifa Std 45 Light" pitchFamily="18" charset="0"/>
          <a:ea typeface="+mn-ea"/>
          <a:cs typeface="+mn-cs"/>
        </a:defRPr>
      </a:lvl5pPr>
      <a:lvl6pPr marL="2761870"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6pPr>
      <a:lvl7pPr marL="3264028"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7pPr>
      <a:lvl8pPr marL="3766185"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8pPr>
      <a:lvl9pPr marL="4268345" indent="-251078" algn="l" defTabSz="1004316" rtl="0" eaLnBrk="1" latinLnBrk="0" hangingPunct="1">
        <a:spcBef>
          <a:spcPct val="20000"/>
        </a:spcBef>
        <a:buFont typeface="Arial" panose="020B0604020202020204" pitchFamily="34" charset="0"/>
        <a:buChar char="•"/>
        <a:defRPr sz="2197" kern="1200">
          <a:solidFill>
            <a:schemeClr val="tx1"/>
          </a:solidFill>
          <a:latin typeface="+mn-lt"/>
          <a:ea typeface="+mn-ea"/>
          <a:cs typeface="+mn-cs"/>
        </a:defRPr>
      </a:lvl9pPr>
    </p:bodyStyle>
    <p:otherStyle>
      <a:defPPr>
        <a:defRPr lang="nl-NL"/>
      </a:defPPr>
      <a:lvl1pPr marL="0" algn="l" defTabSz="1004316" rtl="0" eaLnBrk="1" latinLnBrk="0" hangingPunct="1">
        <a:defRPr sz="1977" kern="1200">
          <a:solidFill>
            <a:schemeClr val="tx1"/>
          </a:solidFill>
          <a:latin typeface="+mn-lt"/>
          <a:ea typeface="+mn-ea"/>
          <a:cs typeface="+mn-cs"/>
        </a:defRPr>
      </a:lvl1pPr>
      <a:lvl2pPr marL="502159" algn="l" defTabSz="1004316" rtl="0" eaLnBrk="1" latinLnBrk="0" hangingPunct="1">
        <a:defRPr sz="1977" kern="1200">
          <a:solidFill>
            <a:schemeClr val="tx1"/>
          </a:solidFill>
          <a:latin typeface="+mn-lt"/>
          <a:ea typeface="+mn-ea"/>
          <a:cs typeface="+mn-cs"/>
        </a:defRPr>
      </a:lvl2pPr>
      <a:lvl3pPr marL="1004316" algn="l" defTabSz="1004316" rtl="0" eaLnBrk="1" latinLnBrk="0" hangingPunct="1">
        <a:defRPr sz="1977" kern="1200">
          <a:solidFill>
            <a:schemeClr val="tx1"/>
          </a:solidFill>
          <a:latin typeface="+mn-lt"/>
          <a:ea typeface="+mn-ea"/>
          <a:cs typeface="+mn-cs"/>
        </a:defRPr>
      </a:lvl3pPr>
      <a:lvl4pPr marL="1506476" algn="l" defTabSz="1004316" rtl="0" eaLnBrk="1" latinLnBrk="0" hangingPunct="1">
        <a:defRPr sz="1977" kern="1200">
          <a:solidFill>
            <a:schemeClr val="tx1"/>
          </a:solidFill>
          <a:latin typeface="+mn-lt"/>
          <a:ea typeface="+mn-ea"/>
          <a:cs typeface="+mn-cs"/>
        </a:defRPr>
      </a:lvl4pPr>
      <a:lvl5pPr marL="2008632" algn="l" defTabSz="1004316" rtl="0" eaLnBrk="1" latinLnBrk="0" hangingPunct="1">
        <a:defRPr sz="1977" kern="1200">
          <a:solidFill>
            <a:schemeClr val="tx1"/>
          </a:solidFill>
          <a:latin typeface="+mn-lt"/>
          <a:ea typeface="+mn-ea"/>
          <a:cs typeface="+mn-cs"/>
        </a:defRPr>
      </a:lvl5pPr>
      <a:lvl6pPr marL="2510791" algn="l" defTabSz="1004316" rtl="0" eaLnBrk="1" latinLnBrk="0" hangingPunct="1">
        <a:defRPr sz="1977" kern="1200">
          <a:solidFill>
            <a:schemeClr val="tx1"/>
          </a:solidFill>
          <a:latin typeface="+mn-lt"/>
          <a:ea typeface="+mn-ea"/>
          <a:cs typeface="+mn-cs"/>
        </a:defRPr>
      </a:lvl6pPr>
      <a:lvl7pPr marL="3012949" algn="l" defTabSz="1004316" rtl="0" eaLnBrk="1" latinLnBrk="0" hangingPunct="1">
        <a:defRPr sz="1977" kern="1200">
          <a:solidFill>
            <a:schemeClr val="tx1"/>
          </a:solidFill>
          <a:latin typeface="+mn-lt"/>
          <a:ea typeface="+mn-ea"/>
          <a:cs typeface="+mn-cs"/>
        </a:defRPr>
      </a:lvl7pPr>
      <a:lvl8pPr marL="3515106" algn="l" defTabSz="1004316" rtl="0" eaLnBrk="1" latinLnBrk="0" hangingPunct="1">
        <a:defRPr sz="1977" kern="1200">
          <a:solidFill>
            <a:schemeClr val="tx1"/>
          </a:solidFill>
          <a:latin typeface="+mn-lt"/>
          <a:ea typeface="+mn-ea"/>
          <a:cs typeface="+mn-cs"/>
        </a:defRPr>
      </a:lvl8pPr>
      <a:lvl9pPr marL="4017265" algn="l" defTabSz="1004316" rtl="0" eaLnBrk="1" latinLnBrk="0" hangingPunct="1">
        <a:defRPr sz="197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13" Type="http://schemas.openxmlformats.org/officeDocument/2006/relationships/slide" Target="slide13.xml"/><Relationship Id="rId3" Type="http://schemas.openxmlformats.org/officeDocument/2006/relationships/slide" Target="slide10.xml"/><Relationship Id="rId7" Type="http://schemas.openxmlformats.org/officeDocument/2006/relationships/slide" Target="slide4.xml"/><Relationship Id="rId12" Type="http://schemas.openxmlformats.org/officeDocument/2006/relationships/slide" Target="slide9.xml"/><Relationship Id="rId2" Type="http://schemas.openxmlformats.org/officeDocument/2006/relationships/notesSlide" Target="../notesSlides/notesSlide1.xml"/><Relationship Id="rId16" Type="http://schemas.openxmlformats.org/officeDocument/2006/relationships/slide" Target="slide17.xml"/><Relationship Id="rId1" Type="http://schemas.openxmlformats.org/officeDocument/2006/relationships/slideLayout" Target="../slideLayouts/slideLayout2.xml"/><Relationship Id="rId6" Type="http://schemas.openxmlformats.org/officeDocument/2006/relationships/slide" Target="slide11.xml"/><Relationship Id="rId11" Type="http://schemas.openxmlformats.org/officeDocument/2006/relationships/slide" Target="slide8.xml"/><Relationship Id="rId5" Type="http://schemas.openxmlformats.org/officeDocument/2006/relationships/slide" Target="slide12.xml"/><Relationship Id="rId15" Type="http://schemas.openxmlformats.org/officeDocument/2006/relationships/slide" Target="slide15.xml"/><Relationship Id="rId10" Type="http://schemas.openxmlformats.org/officeDocument/2006/relationships/slide" Target="slide7.xml"/><Relationship Id="rId4" Type="http://schemas.openxmlformats.org/officeDocument/2006/relationships/slide" Target="slide6.xml"/><Relationship Id="rId9" Type="http://schemas.openxmlformats.org/officeDocument/2006/relationships/slide" Target="slide5.xml"/><Relationship Id="rId14" Type="http://schemas.openxmlformats.org/officeDocument/2006/relationships/slide" Target="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4874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fbeelding schoolprofiel">
            <a:hlinkClick r:id="rId3" action="ppaction://hlinksldjump"/>
            <a:extLst>
              <a:ext uri="{FF2B5EF4-FFF2-40B4-BE49-F238E27FC236}">
                <a16:creationId xmlns:a16="http://schemas.microsoft.com/office/drawing/2014/main" id="{0C1B72C3-47DA-A747-1BF3-B40F537F3569}"/>
              </a:ext>
            </a:extLst>
          </p:cNvPr>
          <p:cNvSpPr/>
          <p:nvPr/>
        </p:nvSpPr>
        <p:spPr>
          <a:xfrm>
            <a:off x="4554336" y="2285745"/>
            <a:ext cx="2592000" cy="477202"/>
          </a:xfrm>
          <a:prstGeom prst="snip2DiagRect">
            <a:avLst/>
          </a:prstGeom>
          <a:solidFill>
            <a:srgbClr val="6EA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Gezin</a:t>
            </a:r>
          </a:p>
        </p:txBody>
      </p:sp>
      <p:sp>
        <p:nvSpPr>
          <p:cNvPr id="5" name="Afbeelding schoolprofiel">
            <a:hlinkClick r:id="rId4" action="ppaction://hlinksldjump"/>
            <a:extLst>
              <a:ext uri="{FF2B5EF4-FFF2-40B4-BE49-F238E27FC236}">
                <a16:creationId xmlns:a16="http://schemas.microsoft.com/office/drawing/2014/main" id="{B2DB2224-720F-866A-1E8A-78D47AA51FF6}"/>
              </a:ext>
            </a:extLst>
          </p:cNvPr>
          <p:cNvSpPr/>
          <p:nvPr/>
        </p:nvSpPr>
        <p:spPr>
          <a:xfrm>
            <a:off x="953873" y="3619851"/>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Alcohol - 1</a:t>
            </a:r>
          </a:p>
        </p:txBody>
      </p:sp>
      <p:sp>
        <p:nvSpPr>
          <p:cNvPr id="8" name="Afbeelding schoolprofiel">
            <a:hlinkClick r:id="rId5" action="ppaction://hlinksldjump"/>
            <a:extLst>
              <a:ext uri="{FF2B5EF4-FFF2-40B4-BE49-F238E27FC236}">
                <a16:creationId xmlns:a16="http://schemas.microsoft.com/office/drawing/2014/main" id="{C590300C-4BF7-B6D8-AD0D-8FD23A2165F1}"/>
              </a:ext>
            </a:extLst>
          </p:cNvPr>
          <p:cNvSpPr/>
          <p:nvPr/>
        </p:nvSpPr>
        <p:spPr>
          <a:xfrm>
            <a:off x="7712055" y="2285745"/>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- 1</a:t>
            </a:r>
          </a:p>
        </p:txBody>
      </p:sp>
      <p:sp>
        <p:nvSpPr>
          <p:cNvPr id="9" name="Afbeelding schoolprofiel">
            <a:hlinkClick r:id="rId6" action="ppaction://hlinksldjump"/>
            <a:extLst>
              <a:ext uri="{FF2B5EF4-FFF2-40B4-BE49-F238E27FC236}">
                <a16:creationId xmlns:a16="http://schemas.microsoft.com/office/drawing/2014/main" id="{7A6E9FD2-13BE-F05E-43F3-9F06A15782A9}"/>
              </a:ext>
            </a:extLst>
          </p:cNvPr>
          <p:cNvSpPr/>
          <p:nvPr/>
        </p:nvSpPr>
        <p:spPr>
          <a:xfrm>
            <a:off x="4554336" y="2952798"/>
            <a:ext cx="2592000" cy="477202"/>
          </a:xfrm>
          <a:prstGeom prst="snip2Diag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School</a:t>
            </a:r>
          </a:p>
        </p:txBody>
      </p:sp>
      <p:sp>
        <p:nvSpPr>
          <p:cNvPr id="10" name="Afbeelding schoolprofiel">
            <a:hlinkClick r:id="rId7" action="ppaction://hlinksldjump"/>
            <a:extLst>
              <a:ext uri="{FF2B5EF4-FFF2-40B4-BE49-F238E27FC236}">
                <a16:creationId xmlns:a16="http://schemas.microsoft.com/office/drawing/2014/main" id="{8C2FF7E6-D4A5-9A35-3448-C053ABA8B50B}"/>
              </a:ext>
            </a:extLst>
          </p:cNvPr>
          <p:cNvSpPr/>
          <p:nvPr/>
        </p:nvSpPr>
        <p:spPr>
          <a:xfrm>
            <a:off x="953873" y="2285745"/>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Gezondheid en eenzaamheid</a:t>
            </a:r>
          </a:p>
        </p:txBody>
      </p:sp>
      <p:sp>
        <p:nvSpPr>
          <p:cNvPr id="16" name="Afbeelding schoolprofiel">
            <a:hlinkClick r:id="rId8" action="ppaction://hlinksldjump"/>
            <a:extLst>
              <a:ext uri="{FF2B5EF4-FFF2-40B4-BE49-F238E27FC236}">
                <a16:creationId xmlns:a16="http://schemas.microsoft.com/office/drawing/2014/main" id="{B67C7620-43AB-3298-A1FD-587D84BFF0DD}"/>
              </a:ext>
            </a:extLst>
          </p:cNvPr>
          <p:cNvSpPr/>
          <p:nvPr/>
        </p:nvSpPr>
        <p:spPr>
          <a:xfrm>
            <a:off x="4554336" y="3619851"/>
            <a:ext cx="2592000" cy="477202"/>
          </a:xfrm>
          <a:prstGeom prst="snip2Diag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Vrije tijd - 1</a:t>
            </a:r>
          </a:p>
        </p:txBody>
      </p:sp>
      <p:sp>
        <p:nvSpPr>
          <p:cNvPr id="14" name="Afbeelding schoolprofiel">
            <a:hlinkClick r:id="rId9" action="ppaction://hlinksldjump"/>
            <a:extLst>
              <a:ext uri="{FF2B5EF4-FFF2-40B4-BE49-F238E27FC236}">
                <a16:creationId xmlns:a16="http://schemas.microsoft.com/office/drawing/2014/main" id="{83D05893-5743-7FBA-43D1-74A729D04A79}"/>
              </a:ext>
            </a:extLst>
          </p:cNvPr>
          <p:cNvSpPr/>
          <p:nvPr/>
        </p:nvSpPr>
        <p:spPr>
          <a:xfrm>
            <a:off x="953873" y="2952798"/>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Emotioneel welbevinden, stress en weerbaarheid</a:t>
            </a:r>
          </a:p>
        </p:txBody>
      </p:sp>
      <p:sp>
        <p:nvSpPr>
          <p:cNvPr id="15" name="Afbeelding schoolprofiel">
            <a:hlinkClick r:id="rId10" action="ppaction://hlinksldjump"/>
            <a:extLst>
              <a:ext uri="{FF2B5EF4-FFF2-40B4-BE49-F238E27FC236}">
                <a16:creationId xmlns:a16="http://schemas.microsoft.com/office/drawing/2014/main" id="{647A9B7B-4F50-BB5D-FD30-3C01E895631D}"/>
              </a:ext>
            </a:extLst>
          </p:cNvPr>
          <p:cNvSpPr/>
          <p:nvPr/>
        </p:nvSpPr>
        <p:spPr>
          <a:xfrm>
            <a:off x="953873" y="4286904"/>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Alcohol - 2</a:t>
            </a:r>
          </a:p>
        </p:txBody>
      </p:sp>
      <p:sp>
        <p:nvSpPr>
          <p:cNvPr id="25" name="Afbeelding schoolprofiel">
            <a:hlinkClick r:id="rId11" action="ppaction://hlinksldjump"/>
            <a:extLst>
              <a:ext uri="{FF2B5EF4-FFF2-40B4-BE49-F238E27FC236}">
                <a16:creationId xmlns:a16="http://schemas.microsoft.com/office/drawing/2014/main" id="{8AC29EBE-40D7-87F4-423C-57A6F992E562}"/>
              </a:ext>
            </a:extLst>
          </p:cNvPr>
          <p:cNvSpPr/>
          <p:nvPr/>
        </p:nvSpPr>
        <p:spPr>
          <a:xfrm>
            <a:off x="953873" y="4953957"/>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Roken, vapen en drugs - 1</a:t>
            </a:r>
          </a:p>
        </p:txBody>
      </p:sp>
      <p:sp>
        <p:nvSpPr>
          <p:cNvPr id="28" name="Afbeelding schoolprofiel">
            <a:hlinkClick r:id="rId12" action="ppaction://hlinksldjump"/>
            <a:extLst>
              <a:ext uri="{FF2B5EF4-FFF2-40B4-BE49-F238E27FC236}">
                <a16:creationId xmlns:a16="http://schemas.microsoft.com/office/drawing/2014/main" id="{8414E3E1-57C5-BC05-1029-40924E3486BA}"/>
              </a:ext>
            </a:extLst>
          </p:cNvPr>
          <p:cNvSpPr/>
          <p:nvPr/>
        </p:nvSpPr>
        <p:spPr>
          <a:xfrm>
            <a:off x="953873" y="5621010"/>
            <a:ext cx="2592000" cy="477202"/>
          </a:xfrm>
          <a:prstGeom prst="snip2Diag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Roken, vapen en drugs - 2</a:t>
            </a:r>
          </a:p>
        </p:txBody>
      </p:sp>
      <p:sp>
        <p:nvSpPr>
          <p:cNvPr id="29" name="Afbeelding schoolprofiel">
            <a:hlinkClick r:id="rId13" action="ppaction://hlinksldjump"/>
            <a:extLst>
              <a:ext uri="{FF2B5EF4-FFF2-40B4-BE49-F238E27FC236}">
                <a16:creationId xmlns:a16="http://schemas.microsoft.com/office/drawing/2014/main" id="{6E76AE43-4FF1-5B9E-CFF3-50C30ADB670C}"/>
              </a:ext>
            </a:extLst>
          </p:cNvPr>
          <p:cNvSpPr/>
          <p:nvPr/>
        </p:nvSpPr>
        <p:spPr>
          <a:xfrm>
            <a:off x="7712055" y="2952798"/>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- 2</a:t>
            </a:r>
          </a:p>
        </p:txBody>
      </p:sp>
      <p:sp>
        <p:nvSpPr>
          <p:cNvPr id="30" name="Afbeelding schoolprofiel">
            <a:hlinkClick r:id="rId14" action="ppaction://hlinksldjump"/>
            <a:extLst>
              <a:ext uri="{FF2B5EF4-FFF2-40B4-BE49-F238E27FC236}">
                <a16:creationId xmlns:a16="http://schemas.microsoft.com/office/drawing/2014/main" id="{64CEC15C-F291-E33E-E494-6948AFC96015}"/>
              </a:ext>
            </a:extLst>
          </p:cNvPr>
          <p:cNvSpPr/>
          <p:nvPr/>
        </p:nvSpPr>
        <p:spPr>
          <a:xfrm>
            <a:off x="7712055" y="3626188"/>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- 3</a:t>
            </a:r>
          </a:p>
        </p:txBody>
      </p:sp>
      <p:sp>
        <p:nvSpPr>
          <p:cNvPr id="31" name="Afbeelding schoolprofiel">
            <a:hlinkClick r:id="rId15" action="ppaction://hlinksldjump"/>
            <a:extLst>
              <a:ext uri="{FF2B5EF4-FFF2-40B4-BE49-F238E27FC236}">
                <a16:creationId xmlns:a16="http://schemas.microsoft.com/office/drawing/2014/main" id="{2E47E09D-6EF3-E694-7A6E-46AA7D4C45C0}"/>
              </a:ext>
            </a:extLst>
          </p:cNvPr>
          <p:cNvSpPr/>
          <p:nvPr/>
        </p:nvSpPr>
        <p:spPr>
          <a:xfrm>
            <a:off x="7712055" y="4299578"/>
            <a:ext cx="2592000" cy="477202"/>
          </a:xfrm>
          <a:prstGeom prst="snip2Diag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Leeftijdsgenoten - 4</a:t>
            </a:r>
          </a:p>
        </p:txBody>
      </p:sp>
      <p:sp>
        <p:nvSpPr>
          <p:cNvPr id="32" name="Afbeelding schoolprofiel">
            <a:hlinkClick r:id="rId16" action="ppaction://hlinksldjump"/>
            <a:extLst>
              <a:ext uri="{FF2B5EF4-FFF2-40B4-BE49-F238E27FC236}">
                <a16:creationId xmlns:a16="http://schemas.microsoft.com/office/drawing/2014/main" id="{8AB4A432-E592-A363-5392-A3FE7E5B300A}"/>
              </a:ext>
            </a:extLst>
          </p:cNvPr>
          <p:cNvSpPr/>
          <p:nvPr/>
        </p:nvSpPr>
        <p:spPr>
          <a:xfrm>
            <a:off x="4554336" y="4286904"/>
            <a:ext cx="2592000" cy="477202"/>
          </a:xfrm>
          <a:prstGeom prst="snip2Diag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Vrije tijd – 2</a:t>
            </a:r>
          </a:p>
        </p:txBody>
      </p:sp>
      <p:sp>
        <p:nvSpPr>
          <p:cNvPr id="33" name="Afbeelding schoolprofiel">
            <a:hlinkClick r:id="" action="ppaction://noaction"/>
            <a:extLst>
              <a:ext uri="{FF2B5EF4-FFF2-40B4-BE49-F238E27FC236}">
                <a16:creationId xmlns:a16="http://schemas.microsoft.com/office/drawing/2014/main" id="{845710C7-688A-13D9-8C5D-E726002D085E}"/>
              </a:ext>
            </a:extLst>
          </p:cNvPr>
          <p:cNvSpPr/>
          <p:nvPr/>
        </p:nvSpPr>
        <p:spPr>
          <a:xfrm>
            <a:off x="953873" y="1618692"/>
            <a:ext cx="2592000" cy="4772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Uitkomsten</a:t>
            </a:r>
          </a:p>
        </p:txBody>
      </p:sp>
      <p:sp>
        <p:nvSpPr>
          <p:cNvPr id="34" name="Afbeelding schoolprofiel">
            <a:hlinkClick r:id="" action="ppaction://noaction"/>
            <a:extLst>
              <a:ext uri="{FF2B5EF4-FFF2-40B4-BE49-F238E27FC236}">
                <a16:creationId xmlns:a16="http://schemas.microsoft.com/office/drawing/2014/main" id="{C7CAA2C1-F107-0501-AD76-266B29001FD1}"/>
              </a:ext>
            </a:extLst>
          </p:cNvPr>
          <p:cNvSpPr/>
          <p:nvPr/>
        </p:nvSpPr>
        <p:spPr>
          <a:xfrm>
            <a:off x="4554336" y="1618692"/>
            <a:ext cx="5749719" cy="4772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100" b="1" dirty="0">
                <a:latin typeface="Century Gothic" panose="020B0502020202020204" pitchFamily="34" charset="0"/>
                <a:ea typeface="Verdana" panose="020B0604030504040204" pitchFamily="34" charset="0"/>
              </a:rPr>
              <a:t>Omgevingsfactoren</a:t>
            </a:r>
          </a:p>
        </p:txBody>
      </p:sp>
    </p:spTree>
    <p:extLst>
      <p:ext uri="{BB962C8B-B14F-4D97-AF65-F5344CB8AC3E}">
        <p14:creationId xmlns:p14="http://schemas.microsoft.com/office/powerpoint/2010/main" val="3714805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96753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4344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0494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207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2350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828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942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2878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107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4460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017D-0427-0FDA-ECFD-A6BB5706EBF2}"/>
            </a:ext>
          </a:extLst>
        </p:cNvPr>
        <p:cNvGrpSpPr/>
        <p:nvPr/>
      </p:nvGrpSpPr>
      <p:grpSpPr>
        <a:xfrm>
          <a:off x="0" y="0"/>
          <a:ext cx="0" cy="0"/>
          <a:chOff x="0" y="0"/>
          <a:chExt cx="0" cy="0"/>
        </a:xfrm>
      </p:grpSpPr>
    </p:spTree>
    <p:extLst>
      <p:ext uri="{BB962C8B-B14F-4D97-AF65-F5344CB8AC3E}">
        <p14:creationId xmlns:p14="http://schemas.microsoft.com/office/powerpoint/2010/main" val="2366091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5D18A-3F76-671E-4E72-3AD7C074AEB8}"/>
            </a:ext>
          </a:extLst>
        </p:cNvPr>
        <p:cNvGrpSpPr/>
        <p:nvPr/>
      </p:nvGrpSpPr>
      <p:grpSpPr>
        <a:xfrm>
          <a:off x="0" y="0"/>
          <a:ext cx="0" cy="0"/>
          <a:chOff x="0" y="0"/>
          <a:chExt cx="0" cy="0"/>
        </a:xfrm>
      </p:grpSpPr>
    </p:spTree>
    <p:extLst>
      <p:ext uri="{BB962C8B-B14F-4D97-AF65-F5344CB8AC3E}">
        <p14:creationId xmlns:p14="http://schemas.microsoft.com/office/powerpoint/2010/main" val="27540491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7459D-E99A-EBA6-4BD3-865F26D4DE5E}"/>
            </a:ext>
          </a:extLst>
        </p:cNvPr>
        <p:cNvGrpSpPr/>
        <p:nvPr/>
      </p:nvGrpSpPr>
      <p:grpSpPr>
        <a:xfrm>
          <a:off x="0" y="0"/>
          <a:ext cx="0" cy="0"/>
          <a:chOff x="0" y="0"/>
          <a:chExt cx="0" cy="0"/>
        </a:xfrm>
      </p:grpSpPr>
    </p:spTree>
    <p:extLst>
      <p:ext uri="{BB962C8B-B14F-4D97-AF65-F5344CB8AC3E}">
        <p14:creationId xmlns:p14="http://schemas.microsoft.com/office/powerpoint/2010/main" val="1947938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5C0F-7712-D511-4089-72C121E97045}"/>
            </a:ext>
          </a:extLst>
        </p:cNvPr>
        <p:cNvGrpSpPr/>
        <p:nvPr/>
      </p:nvGrpSpPr>
      <p:grpSpPr>
        <a:xfrm>
          <a:off x="0" y="0"/>
          <a:ext cx="0" cy="0"/>
          <a:chOff x="0" y="0"/>
          <a:chExt cx="0" cy="0"/>
        </a:xfrm>
      </p:grpSpPr>
    </p:spTree>
    <p:extLst>
      <p:ext uri="{BB962C8B-B14F-4D97-AF65-F5344CB8AC3E}">
        <p14:creationId xmlns:p14="http://schemas.microsoft.com/office/powerpoint/2010/main" val="1019869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74C24-05B2-D83B-0C03-37C9D0BFB32E}"/>
            </a:ext>
          </a:extLst>
        </p:cNvPr>
        <p:cNvGrpSpPr/>
        <p:nvPr/>
      </p:nvGrpSpPr>
      <p:grpSpPr>
        <a:xfrm>
          <a:off x="0" y="0"/>
          <a:ext cx="0" cy="0"/>
          <a:chOff x="0" y="0"/>
          <a:chExt cx="0" cy="0"/>
        </a:xfrm>
      </p:grpSpPr>
    </p:spTree>
    <p:extLst>
      <p:ext uri="{BB962C8B-B14F-4D97-AF65-F5344CB8AC3E}">
        <p14:creationId xmlns:p14="http://schemas.microsoft.com/office/powerpoint/2010/main" val="1082037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jdelijke aanduiding voor tekst 5">
            <a:extLst>
              <a:ext uri="{FF2B5EF4-FFF2-40B4-BE49-F238E27FC236}">
                <a16:creationId xmlns:a16="http://schemas.microsoft.com/office/drawing/2014/main" id="{417D7511-0ADB-1912-1524-CB1730A640E6}"/>
              </a:ext>
            </a:extLst>
          </p:cNvPr>
          <p:cNvSpPr>
            <a:spLocks noGrp="1"/>
          </p:cNvSpPr>
          <p:nvPr>
            <p:ph type="body" sz="quarter" idx="10"/>
          </p:nvPr>
        </p:nvSpPr>
        <p:spPr>
          <a:xfrm>
            <a:off x="457218" y="2033035"/>
            <a:ext cx="5178425" cy="2586038"/>
          </a:xfrm>
        </p:spPr>
        <p:txBody>
          <a:bodyPr/>
          <a:lstStyle/>
          <a:p>
            <a:endParaRPr lang="nl-NL" dirty="0"/>
          </a:p>
        </p:txBody>
      </p:sp>
    </p:spTree>
    <p:extLst>
      <p:ext uri="{BB962C8B-B14F-4D97-AF65-F5344CB8AC3E}">
        <p14:creationId xmlns:p14="http://schemas.microsoft.com/office/powerpoint/2010/main" val="1573809413"/>
      </p:ext>
    </p:extLst>
  </p:cSld>
  <p:clrMapOvr>
    <a:masterClrMapping/>
  </p:clrMapOvr>
</p:sld>
</file>

<file path=ppt/theme/theme1.xml><?xml version="1.0" encoding="utf-8"?>
<a:theme xmlns:a="http://schemas.openxmlformats.org/drawingml/2006/main" name="Titelpagina">
  <a:themeElements>
    <a:clrScheme name="GGD Limburg-Noord">
      <a:dk1>
        <a:sysClr val="windowText" lastClr="000000"/>
      </a:dk1>
      <a:lt1>
        <a:srgbClr val="FFFFFF"/>
      </a:lt1>
      <a:dk2>
        <a:srgbClr val="737375"/>
      </a:dk2>
      <a:lt2>
        <a:srgbClr val="DAD3D1"/>
      </a:lt2>
      <a:accent1>
        <a:srgbClr val="005C96"/>
      </a:accent1>
      <a:accent2>
        <a:srgbClr val="6FC7FF"/>
      </a:accent2>
      <a:accent3>
        <a:srgbClr val="E54800"/>
      </a:accent3>
      <a:accent4>
        <a:srgbClr val="FFB18E"/>
      </a:accent4>
      <a:accent5>
        <a:srgbClr val="FFE500"/>
      </a:accent5>
      <a:accent6>
        <a:srgbClr val="FFF6A3"/>
      </a:accent6>
      <a:hlink>
        <a:srgbClr val="0092AE"/>
      </a:hlink>
      <a:folHlink>
        <a:srgbClr val="EAF4F8"/>
      </a:folHlink>
    </a:clrScheme>
    <a:fontScheme name="OKO">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apportage">
  <a:themeElements>
    <a:clrScheme name="OKO">
      <a:dk1>
        <a:sysClr val="windowText" lastClr="000000"/>
      </a:dk1>
      <a:lt1>
        <a:srgbClr val="FFFFFF"/>
      </a:lt1>
      <a:dk2>
        <a:srgbClr val="737375"/>
      </a:dk2>
      <a:lt2>
        <a:srgbClr val="DAD3D1"/>
      </a:lt2>
      <a:accent1>
        <a:srgbClr val="E3032C"/>
      </a:accent1>
      <a:accent2>
        <a:srgbClr val="36B03F"/>
      </a:accent2>
      <a:accent3>
        <a:srgbClr val="4450C6"/>
      </a:accent3>
      <a:accent4>
        <a:srgbClr val="FABD15"/>
      </a:accent4>
      <a:accent5>
        <a:srgbClr val="6EA6FF"/>
      </a:accent5>
      <a:accent6>
        <a:srgbClr val="FF6200"/>
      </a:accent6>
      <a:hlink>
        <a:srgbClr val="0092AE"/>
      </a:hlink>
      <a:folHlink>
        <a:srgbClr val="EAF4F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b="1" dirty="0">
            <a:latin typeface="Arial" panose="020B0604020202020204" pitchFamily="34" charset="0"/>
            <a:cs typeface="Arial" panose="020B0604020202020204" pitchFamily="34" charset="0"/>
          </a:defRPr>
        </a:defPPr>
      </a:lstStyle>
    </a:txDef>
  </a:objectDefaults>
  <a:extraClrScheme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EA295FB1FB9547A73C9F5819D6E613" ma:contentTypeVersion="23" ma:contentTypeDescription="Een nieuw document maken." ma:contentTypeScope="" ma:versionID="fb09b8f9996d29818860aca561f17aea">
  <xsd:schema xmlns:xsd="http://www.w3.org/2001/XMLSchema" xmlns:xs="http://www.w3.org/2001/XMLSchema" xmlns:p="http://schemas.microsoft.com/office/2006/metadata/properties" xmlns:ns1="http://schemas.microsoft.com/sharepoint/v3" xmlns:ns2="4e95bed8-6d15-4403-ad70-a53422338dca" xmlns:ns3="10d3344f-2d16-43d9-a145-97142f5cb288" xmlns:ns4="d045ab76-3bb7-45f5-ab41-d7b04aa0dc94" targetNamespace="http://schemas.microsoft.com/office/2006/metadata/properties" ma:root="true" ma:fieldsID="f29125cba2118f3064d103e6e0ba85ce" ns1:_="" ns2:_="" ns3:_="" ns4:_="">
    <xsd:import namespace="http://schemas.microsoft.com/sharepoint/v3"/>
    <xsd:import namespace="4e95bed8-6d15-4403-ad70-a53422338dca"/>
    <xsd:import namespace="10d3344f-2d16-43d9-a145-97142f5cb288"/>
    <xsd:import namespace="d045ab76-3bb7-45f5-ab41-d7b04aa0dc9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LengthInSeconds"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OCR" minOccurs="0"/>
                <xsd:element ref="ns2:lcf76f155ced4ddcb4097134ff3c332f" minOccurs="0"/>
                <xsd:element ref="ns4:TaxCatchAll" minOccurs="0"/>
                <xsd:element ref="ns2:MediaServiceLocation" minOccurs="0"/>
                <xsd:element ref="ns1:_ip_UnifiedCompliancePolicyProperties" minOccurs="0"/>
                <xsd:element ref="ns1:_ip_UnifiedCompliancePolicyUIAction" minOccurs="0"/>
                <xsd:element ref="ns2:MediaServiceObjectDetectorVersions" minOccurs="0"/>
                <xsd:element ref="ns2:MediaServiceSearchProperties" minOccurs="0"/>
                <xsd:element ref="ns4:TaxKeyword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Eigenschappen van het geïntegreerd beleid voor naleving" ma:hidden="true" ma:internalName="_ip_UnifiedCompliancePolicyProperties">
      <xsd:simpleType>
        <xsd:restriction base="dms:Note"/>
      </xsd:simpleType>
    </xsd:element>
    <xsd:element name="_ip_UnifiedCompliancePolicyUIAction" ma:index="25" nillable="true" ma:displayName="Actie van de gebruikersinterface van het geïntegreerd beleid voor naleving"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95bed8-6d15-4403-ad70-a53422338d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Afbeeldingtags" ma:readOnly="false" ma:fieldId="{5cf76f15-5ced-4ddc-b409-7134ff3c332f}" ma:taxonomyMulti="true" ma:sspId="6a01bbcf-c6fe-4904-b3d7-d8e248b039c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0d3344f-2d16-43d9-a145-97142f5cb288" elementFormDefault="qualified">
    <xsd:import namespace="http://schemas.microsoft.com/office/2006/documentManagement/types"/>
    <xsd:import namespace="http://schemas.microsoft.com/office/infopath/2007/PartnerControls"/>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045ab76-3bb7-45f5-ab41-d7b04aa0dc94"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fa7ae801-cb9e-41d3-a15b-605146dc1d91}" ma:internalName="TaxCatchAll" ma:showField="CatchAllData" ma:web="10d3344f-2d16-43d9-a145-97142f5cb288">
      <xsd:complexType>
        <xsd:complexContent>
          <xsd:extension base="dms:MultiChoiceLookup">
            <xsd:sequence>
              <xsd:element name="Value" type="dms:Lookup" maxOccurs="unbounded" minOccurs="0" nillable="true"/>
            </xsd:sequence>
          </xsd:extension>
        </xsd:complexContent>
      </xsd:complexType>
    </xsd:element>
    <xsd:element name="TaxKeywordTaxHTField" ma:index="29" nillable="true" ma:taxonomy="true" ma:internalName="TaxKeywordTaxHTField" ma:taxonomyFieldName="TaxKeyword" ma:displayName="Ondernemingstrefwoorden" ma:fieldId="{23f27201-bee3-471e-b2e7-b64fd8b7ca38}" ma:taxonomyMulti="true" ma:sspId="6a01bbcf-c6fe-4904-b3d7-d8e248b039cf"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e95bed8-6d15-4403-ad70-a53422338dca">
      <Terms xmlns="http://schemas.microsoft.com/office/infopath/2007/PartnerControls"/>
    </lcf76f155ced4ddcb4097134ff3c332f>
    <_ip_UnifiedCompliancePolicyProperties xmlns="http://schemas.microsoft.com/sharepoint/v3" xsi:nil="true"/>
    <TaxCatchAll xmlns="d045ab76-3bb7-45f5-ab41-d7b04aa0dc94" xsi:nil="true"/>
    <TaxKeywordTaxHTField xmlns="d045ab76-3bb7-45f5-ab41-d7b04aa0dc94">
      <Terms xmlns="http://schemas.microsoft.com/office/infopath/2007/PartnerControls"/>
    </TaxKeywordTaxHTField>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0196C7-9E34-4097-AAF0-FBA9D81799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e95bed8-6d15-4403-ad70-a53422338dca"/>
    <ds:schemaRef ds:uri="10d3344f-2d16-43d9-a145-97142f5cb288"/>
    <ds:schemaRef ds:uri="d045ab76-3bb7-45f5-ab41-d7b04aa0dc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28373FD-713A-4C43-B3FE-80F0E3D63506}">
  <ds:schemaRefs>
    <ds:schemaRef ds:uri="http://schemas.microsoft.com/office/2006/documentManagement/types"/>
    <ds:schemaRef ds:uri="http://purl.org/dc/terms/"/>
    <ds:schemaRef ds:uri="http://www.w3.org/XML/1998/namespace"/>
    <ds:schemaRef ds:uri="http://schemas.microsoft.com/office/2006/metadata/properties"/>
    <ds:schemaRef ds:uri="http://schemas.openxmlformats.org/package/2006/metadata/core-properties"/>
    <ds:schemaRef ds:uri="http://schemas.microsoft.com/office/infopath/2007/PartnerControls"/>
    <ds:schemaRef ds:uri="c1085ce0-992b-4e2c-bc8b-9e7e29361dd3"/>
    <ds:schemaRef ds:uri="http://purl.org/dc/dcmitype/"/>
    <ds:schemaRef ds:uri="http://purl.org/dc/elements/1.1/"/>
    <ds:schemaRef ds:uri="http://schemas.microsoft.com/sharepoint/v3"/>
    <ds:schemaRef ds:uri="4e95bed8-6d15-4403-ad70-a53422338dca"/>
    <ds:schemaRef ds:uri="d045ab76-3bb7-45f5-ab41-d7b04aa0dc94"/>
  </ds:schemaRefs>
</ds:datastoreItem>
</file>

<file path=customXml/itemProps3.xml><?xml version="1.0" encoding="utf-8"?>
<ds:datastoreItem xmlns:ds="http://schemas.openxmlformats.org/officeDocument/2006/customXml" ds:itemID="{D4797234-1F06-4080-A1F9-30DCE4CF2F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5407</TotalTime>
  <Words>54</Words>
  <Application>Microsoft Office PowerPoint</Application>
  <PresentationFormat>Breedbeeld</PresentationFormat>
  <Paragraphs>17</Paragraphs>
  <Slides>18</Slides>
  <Notes>1</Notes>
  <HiddenSlides>0</HiddenSlides>
  <MMClips>0</MMClips>
  <ScaleCrop>false</ScaleCrop>
  <HeadingPairs>
    <vt:vector size="6" baseType="variant">
      <vt:variant>
        <vt:lpstr>Gebruikte lettertypen</vt:lpstr>
      </vt:variant>
      <vt:variant>
        <vt:i4>5</vt:i4>
      </vt:variant>
      <vt:variant>
        <vt:lpstr>Thema</vt:lpstr>
      </vt:variant>
      <vt:variant>
        <vt:i4>2</vt:i4>
      </vt:variant>
      <vt:variant>
        <vt:lpstr>Diatitels</vt:lpstr>
      </vt:variant>
      <vt:variant>
        <vt:i4>18</vt:i4>
      </vt:variant>
    </vt:vector>
  </HeadingPairs>
  <TitlesOfParts>
    <vt:vector size="25" baseType="lpstr">
      <vt:lpstr>Arial</vt:lpstr>
      <vt:lpstr>Calibri</vt:lpstr>
      <vt:lpstr>Century Gothic</vt:lpstr>
      <vt:lpstr>Serifa Std 45 Light</vt:lpstr>
      <vt:lpstr>Serifa Std 55 Roman</vt:lpstr>
      <vt:lpstr>Titelpagina</vt:lpstr>
      <vt:lpstr>Rapportage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RDP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Maessen, Carla</dc:creator>
  <cp:lastModifiedBy>Vermeulen - van Gent, Sander</cp:lastModifiedBy>
  <cp:revision>6</cp:revision>
  <dcterms:created xsi:type="dcterms:W3CDTF">2021-07-15T09:01:16Z</dcterms:created>
  <dcterms:modified xsi:type="dcterms:W3CDTF">2026-02-23T11:29:16Z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6882400</vt:r8>
  </property>
  <property fmtid="{D5CDD505-2E9C-101B-9397-08002B2CF9AE}" pid="3" name="MSIP_Label_ce8bfa01-cc62-4e0e-8713-2f7da2586bef_Enabled">
    <vt:lpwstr>true</vt:lpwstr>
  </property>
  <property fmtid="{D5CDD505-2E9C-101B-9397-08002B2CF9AE}" pid="4" name="MSIP_Label_ce8bfa01-cc62-4e0e-8713-2f7da2586bef_SetDate">
    <vt:lpwstr>2022-02-23T08:06:28Z</vt:lpwstr>
  </property>
  <property fmtid="{D5CDD505-2E9C-101B-9397-08002B2CF9AE}" pid="5" name="MSIP_Label_ce8bfa01-cc62-4e0e-8713-2f7da2586bef_Method">
    <vt:lpwstr>Privileged</vt:lpwstr>
  </property>
  <property fmtid="{D5CDD505-2E9C-101B-9397-08002B2CF9AE}" pid="6" name="MSIP_Label_ce8bfa01-cc62-4e0e-8713-2f7da2586bef_Name">
    <vt:lpwstr>Bedrijfsvertrouwelijk (BBN1)</vt:lpwstr>
  </property>
  <property fmtid="{D5CDD505-2E9C-101B-9397-08002B2CF9AE}" pid="7" name="MSIP_Label_ce8bfa01-cc62-4e0e-8713-2f7da2586bef_SiteId">
    <vt:lpwstr>e90fbc72-bc3b-4475-8f41-70d1d17ccf33</vt:lpwstr>
  </property>
  <property fmtid="{D5CDD505-2E9C-101B-9397-08002B2CF9AE}" pid="8" name="MSIP_Label_ce8bfa01-cc62-4e0e-8713-2f7da2586bef_ActionId">
    <vt:lpwstr>9446abc7-3ad8-491d-928a-af1e5bfbd14d</vt:lpwstr>
  </property>
  <property fmtid="{D5CDD505-2E9C-101B-9397-08002B2CF9AE}" pid="9" name="MSIP_Label_ce8bfa01-cc62-4e0e-8713-2f7da2586bef_ContentBits">
    <vt:lpwstr>2</vt:lpwstr>
  </property>
  <property fmtid="{D5CDD505-2E9C-101B-9397-08002B2CF9AE}" pid="10" name="ClassificationContentMarkingFooterLocations">
    <vt:lpwstr>Gemeenterapportage:5</vt:lpwstr>
  </property>
  <property fmtid="{D5CDD505-2E9C-101B-9397-08002B2CF9AE}" pid="11" name="ClassificationContentMarkingFooterText">
    <vt:lpwstr>Bedrijfsvertrouwelijk (BBN1)</vt:lpwstr>
  </property>
  <property fmtid="{D5CDD505-2E9C-101B-9397-08002B2CF9AE}" pid="12" name="MediaServiceImageTags">
    <vt:lpwstr/>
  </property>
  <property fmtid="{D5CDD505-2E9C-101B-9397-08002B2CF9AE}" pid="13" name="ContentTypeId">
    <vt:lpwstr>0x010100C4EA295FB1FB9547A73C9F5819D6E613</vt:lpwstr>
  </property>
  <property fmtid="{D5CDD505-2E9C-101B-9397-08002B2CF9AE}" pid="14" name="TaxKeyword">
    <vt:lpwstr/>
  </property>
</Properties>
</file>